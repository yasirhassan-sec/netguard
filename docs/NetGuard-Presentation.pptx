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NetGuard is a desktop app that scans a home or small-office network, finds security weaknesses, explains each one in plain language and shows exactly how to fix it. In the next few minutes: the problem, how NetGuard works, what it found on a real network, why it can be trusted,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typical home now has phones, laptops, a smart TV, cameras, smart plugs and a router from the internet provider. Most of these are never updated and nobody looks at their settings. Risky features like Telnet and UPnP are often switched on by default. And owners have no way to see what is on their Wi-Fi or what is exposed. Professional security scanners exist, but they are built for IT teams, not for normal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NetGuard does three things. It detects: devices, open ports, the services behind them and weak settings. It explains: every finding says why it matters and shows the evidence it found. And it recommends: each finding has a concrete fix, sorted so the most urgent comes first. It never attacks or exploits anything; it only asks devices what they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runs six steps. First it discovers every device with a ping and ARP sweep, so even devices that ignore ping are found. Then it scans ports, identifies the services and versions behind them, and checks configuration such as SMBv1, SNMP default passwords, anonymous FTP, UPnP and old TLS. The vulnerability engine applies more than 40 rules and calculates a score. Finally it produces fixes, alerts, history and reports. A quick scan takes around 30 seconds, and nothing is ever exploited.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 areas, all in one desktop app. A Wi-Fi survey with signal strength, channel use and security of nearby networks. Device discovery that names each device's maker, guesses its OS and type, and remembers when it was first seen. Port and service scanning in four modes. More than 40 vulnerability rules. A risk score per device and for the whole network. And reports in four formats, plus scan comparison and alerts when something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checks focus on what actually goes wrong in homes. Wi-Fi security, from open networks to WPA2 versus WPA3. Exposed services like Telnet, remote desktop, VNC, Android debugging, file sharing and databases. Weak configuration such as SMBv1, the SNMP default "public" password, anonymous FTP and UPnP on the router. Encryption problems like old TLS and logins over plain HTTP. And outdated software, with an optional lookup in the official NIST vulnerability database. Each finding shows evidence and a confidence level, so users can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result from my own home network. A quick scan took 36 seconds and found 17 devices, 13 open ports and 8 findings worth fixing, for a score of 54 out of 100. The most serious: Telnet was open on the internet provider's router, which sends passwords in clear text and is a favourite target of IoT botnets. UPnP was enabled, so any program on the network can open ports to the internet. And Windows file sharing on my PC was reachable by others on the shared Wi-Fi. NetGuard also checked the Windows Firewall and correctly reported that a SQL Server port, open locally, was blocked for other devices, so it was not a false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built so a non-expert understands it at a glance. The score comes with a verdict in plain English, here "fair, needs attention", and shows how it moved since the last scan. Cards highlight what changed: new devices and newly opened ports. Below that are a network map coloured by risk, the top findings each with its fix, a score trend over the last scans, and recent alerts. It runs in its own desktop window, or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tool must itself be trustworthy. NetGuard detects but never exploits. It refuses to scan public IP ranges and asks users on first run to confirm they own or are authorised to test the network. All results stay on the user's PC, with no telemetry. The app itself is hardened: it only listens on the local machine and protects its API against cross-site requests and DNS rebinding. On the user's own PC it reads the Windows Firewall rules, so it reports real exposure instead of false alarms. And 46 automated tests, covering the scan rules, the app's security and the licensing, run before every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simple. A desktop window built on Windows' own WebView2 engine shows the dashboard. The dashboard talks to a small Flask API that only listens on the local machine and requires a session token. Behind it is the Python scan engine with its probes and vulnerability rules, and a SQLite database that stores scans, devices, alerts and the audit log on the user's PC. It ships as a standalone NetGuard.exe and a Windows installer. Pro licence keys are digitally signed and verified offline, so no licence server is needed. All open-source components use permissive licences such as BSD and MIT, which allows commercial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NetGuard comes in two editions, both available now in version 3.0. Free, for home users, includes everything needed to scan a home network, understand the findings and fix them, with one saved site. Pro is for IT professionals and small businesses who look after several networks: scheduled scans, unlimited sites, branded reports for clients, and email and Telegram alerts. The price is still to be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is built for people who look after more than one network: IT professionals, small businesses and the family member everyone calls for help. Scans can run automatically on a schedule. Each network can be saved as a named site. New issues are sent by email or Telegram, one message per scan, and the mail password or bot token is stored encrypted on the PC. Reports carry your own company name and colours, ready to hand to a client. Anyone can try Pro free for 14 days. Licence keys are digitally signed and checked offline, so customers need no account and we need no licence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five phases are done. Phase 1 built the foundation: the app's own security, data storage, logging and automated tests. Phase 2 delivered the desktop app, the standalone executable and the installer script. Phase 3 added the Free and Pro editions, signed licence keys and a 14-day trial. Phase 4 added the Pro features. Phase 5 is in progress: the update checker and the code-signing step in the build are ready. What remains is buying the signing certificate, a lawyer's review of the licence agreement and privacy policy, and the website with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NetGuard lets anyone see what is on their network and fix what matters most, safely and privately. Thank you. I'm happy to take questions, show a live scan, or hear feedback on the Free and Pro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655"/>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181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296"/>
            <a:ext cx="10566400" cy="4109904"/>
          </a:xfrm>
          <a:prstGeom prst="rect">
            <a:avLst/>
          </a:prstGeom>
          <a:noFill/>
          <a:ln/>
        </p:spPr>
        <p:txBody>
          <a:bodyPr wrap="square" lIns="0" tIns="0" rIns="0" bIns="0" rtlCol="0" anchor="t"/>
          <a:lstStyle>
            <a:lvl1pPr algn="l" indent="0" marL="0">
              <a:lnSpc>
                <a:spcPct val="140000"/>
              </a:lnSpc>
              <a:buNone/>
              <a:defRPr lang="en-US" sz="1600" dirty="0">
                <a:solidFill>
                  <a:srgbClr val="14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655"/>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4181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296"/>
            <a:ext cx="10566400" cy="4109904"/>
          </a:xfrm>
          <a:prstGeom prst="rect">
            <a:avLst/>
          </a:prstGeom>
          <a:noFill/>
          <a:ln/>
        </p:spPr>
        <p:txBody>
          <a:bodyPr wrap="square" lIns="0" tIns="0" rIns="0" bIns="0" rtlCol="0" anchor="t"/>
          <a:lstStyle>
            <a:lvl1pPr algn="l" indent="0" marL="0">
              <a:lnSpc>
                <a:spcPct val="140000"/>
              </a:lnSpc>
              <a:buNone/>
              <a:defRPr lang="en-US" sz="1600" dirty="0">
                <a:solidFill>
                  <a:srgbClr val="14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418"/>
        </a:solidFill>
      </p:bgPr>
    </p:bg>
    <p:spTree>
      <p:nvGrpSpPr>
        <p:cNvPr id="1" name=""/>
        <p:cNvGrpSpPr/>
        <p:nvPr/>
      </p:nvGrpSpPr>
      <p:grpSpPr>
        <a:xfrm>
          <a:off x="0" y="0"/>
          <a:ext cx="0" cy="0"/>
          <a:chOff x="0" y="0"/>
          <a:chExt cx="0" cy="0"/>
        </a:xfrm>
      </p:grpSpPr>
      <p:pic>
        <p:nvPicPr>
          <p:cNvPr id="2" name="Image 0" descr="Stylised network map: a router in the centre with devices around it, some marked as risky">    </p:cNvPr>
          <p:cNvPicPr>
            <a:picLocks noChangeAspect="1"/>
          </p:cNvPicPr>
          <p:nvPr/>
        </p:nvPicPr>
        <p:blipFill>
          <a:blip r:embed="rId1"/>
          <a:srcRect l="0" r="0" t="0" b="0"/>
          <a:stretch/>
        </p:blipFill>
        <p:spPr>
          <a:xfrm>
            <a:off x="6604000" y="889000"/>
            <a:ext cx="5080000" cy="5080000"/>
          </a:xfrm>
          <a:prstGeom prst="rect">
            <a:avLst/>
          </a:prstGeom>
        </p:spPr>
      </p:pic>
      <p:sp>
        <p:nvSpPr>
          <p:cNvPr id="3" name="Text 0"/>
          <p:cNvSpPr/>
          <p:nvPr/>
        </p:nvSpPr>
        <p:spPr>
          <a:xfrm>
            <a:off x="812800" y="2147755"/>
            <a:ext cx="5886450"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FD3A2"/>
                </a:solidFill>
                <a:latin typeface="JetBrains Mono" pitchFamily="49" charset="0"/>
                <a:ea typeface="JetBrains Mono" pitchFamily="49" charset="-122"/>
                <a:cs typeface="JetBrains Mono" pitchFamily="49" charset="-120"/>
              </a:rPr>
              <a:t>HOME NETWORK SECURITY</a:t>
            </a:r>
            <a:endParaRPr lang="en-US" sz="1200" dirty="0"/>
          </a:p>
        </p:txBody>
      </p:sp>
      <p:sp>
        <p:nvSpPr>
          <p:cNvPr id="4" name="Text 1"/>
          <p:cNvSpPr/>
          <p:nvPr>
            <p:ph type="title"/>
          </p:nvPr>
        </p:nvSpPr>
        <p:spPr>
          <a:xfrm>
            <a:off x="812800" y="2564209"/>
            <a:ext cx="588645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EF1F4"/>
                </a:solidFill>
                <a:latin typeface="Space Grotesk" pitchFamily="34" charset="0"/>
                <a:ea typeface="Space Grotesk" pitchFamily="34" charset="-122"/>
                <a:cs typeface="Space Grotesk" pitchFamily="34" charset="-120"/>
              </a:rPr>
              <a:t>NetGuard</a:t>
            </a:r>
            <a:endParaRPr lang="en-US" sz="6000" dirty="0"/>
          </a:p>
        </p:txBody>
      </p:sp>
      <p:sp>
        <p:nvSpPr>
          <p:cNvPr id="5" name="Text 2"/>
          <p:cNvSpPr/>
          <p:nvPr/>
        </p:nvSpPr>
        <p:spPr>
          <a:xfrm>
            <a:off x="812800" y="3567509"/>
            <a:ext cx="58864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EEF1F4"/>
                </a:solidFill>
                <a:latin typeface="IBM Plex Sans" pitchFamily="34" charset="0"/>
                <a:ea typeface="IBM Plex Sans" pitchFamily="34" charset="-122"/>
                <a:cs typeface="IBM Plex Sans" pitchFamily="34" charset="-120"/>
              </a:rPr>
              <a:t>Find the weak spots in your home network, and fix them.</a:t>
            </a:r>
            <a:endParaRPr lang="en-US" sz="2200" dirty="0"/>
          </a:p>
        </p:txBody>
      </p:sp>
      <p:sp>
        <p:nvSpPr>
          <p:cNvPr id="6" name="Text 3"/>
          <p:cNvSpPr/>
          <p:nvPr/>
        </p:nvSpPr>
        <p:spPr>
          <a:xfrm>
            <a:off x="812800" y="4496991"/>
            <a:ext cx="588645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Product overview · Version 3.0 · October 2026 · Yasir Hassan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E"/>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27654"/>
            <a:ext cx="9156700"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Home networks are full of devices nobody checks</a:t>
            </a:r>
            <a:endParaRPr lang="en-US" sz="3600" dirty="0"/>
          </a:p>
        </p:txBody>
      </p:sp>
      <p:sp>
        <p:nvSpPr>
          <p:cNvPr id="4" name="Shape 2"/>
          <p:cNvSpPr/>
          <p:nvPr/>
        </p:nvSpPr>
        <p:spPr>
          <a:xfrm>
            <a:off x="815975" y="2492111"/>
            <a:ext cx="3380317" cy="2418159"/>
          </a:xfrm>
          <a:prstGeom prst="roundRect">
            <a:avLst>
              <a:gd name="adj" fmla="val 4070"/>
            </a:avLst>
          </a:prstGeom>
          <a:solidFill>
            <a:srgbClr val="FBFCFB"/>
          </a:solidFill>
          <a:ln w="6350">
            <a:solidFill>
              <a:srgbClr val="DCE3E0"/>
            </a:solidFill>
            <a:prstDash val="solid"/>
          </a:ln>
        </p:spPr>
      </p:sp>
      <p:pic>
        <p:nvPicPr>
          <p:cNvPr id="5" name="Image 0" descr="Globe">    </p:cNvPr>
          <p:cNvPicPr>
            <a:picLocks noChangeAspect="1"/>
          </p:cNvPicPr>
          <p:nvPr/>
        </p:nvPicPr>
        <p:blipFill>
          <a:blip r:embed="rId1"/>
          <a:srcRect l="0" r="0" t="0" b="0"/>
          <a:stretch/>
        </p:blipFill>
        <p:spPr>
          <a:xfrm>
            <a:off x="1126067" y="2802203"/>
            <a:ext cx="355600" cy="355600"/>
          </a:xfrm>
          <a:prstGeom prst="rect">
            <a:avLst/>
          </a:prstGeom>
        </p:spPr>
      </p:pic>
      <p:sp>
        <p:nvSpPr>
          <p:cNvPr id="6" name="Text 3"/>
          <p:cNvSpPr/>
          <p:nvPr/>
        </p:nvSpPr>
        <p:spPr>
          <a:xfrm>
            <a:off x="1126067" y="3259403"/>
            <a:ext cx="284293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Unmanaged devices</a:t>
            </a:r>
            <a:endParaRPr lang="en-US" sz="1600" dirty="0"/>
          </a:p>
        </p:txBody>
      </p:sp>
      <p:sp>
        <p:nvSpPr>
          <p:cNvPr id="7" name="Text 4"/>
          <p:cNvSpPr/>
          <p:nvPr/>
        </p:nvSpPr>
        <p:spPr>
          <a:xfrm>
            <a:off x="1126067" y="3604816"/>
            <a:ext cx="284293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Cameras, TVs, smart plugs and printers rarely get updates, and most owners never check them.</a:t>
            </a:r>
            <a:endParaRPr lang="en-US" sz="1400" dirty="0"/>
          </a:p>
        </p:txBody>
      </p:sp>
      <p:sp>
        <p:nvSpPr>
          <p:cNvPr id="8" name="Shape 5"/>
          <p:cNvSpPr/>
          <p:nvPr/>
        </p:nvSpPr>
        <p:spPr>
          <a:xfrm>
            <a:off x="4405842" y="2492111"/>
            <a:ext cx="3380317" cy="2418159"/>
          </a:xfrm>
          <a:prstGeom prst="roundRect">
            <a:avLst>
              <a:gd name="adj" fmla="val 4070"/>
            </a:avLst>
          </a:prstGeom>
          <a:solidFill>
            <a:srgbClr val="FBFCFB"/>
          </a:solidFill>
          <a:ln w="6350">
            <a:solidFill>
              <a:srgbClr val="DCE3E0"/>
            </a:solidFill>
            <a:prstDash val="solid"/>
          </a:ln>
        </p:spPr>
      </p:sp>
      <p:pic>
        <p:nvPicPr>
          <p:cNvPr id="9" name="Image 1" descr="Warning">    </p:cNvPr>
          <p:cNvPicPr>
            <a:picLocks noChangeAspect="1"/>
          </p:cNvPicPr>
          <p:nvPr/>
        </p:nvPicPr>
        <p:blipFill>
          <a:blip r:embed="rId2"/>
          <a:srcRect l="0" r="0" t="0" b="0"/>
          <a:stretch/>
        </p:blipFill>
        <p:spPr>
          <a:xfrm>
            <a:off x="4715933" y="2802203"/>
            <a:ext cx="355600" cy="355600"/>
          </a:xfrm>
          <a:prstGeom prst="rect">
            <a:avLst/>
          </a:prstGeom>
        </p:spPr>
      </p:pic>
      <p:sp>
        <p:nvSpPr>
          <p:cNvPr id="10" name="Text 6"/>
          <p:cNvSpPr/>
          <p:nvPr/>
        </p:nvSpPr>
        <p:spPr>
          <a:xfrm>
            <a:off x="4715933" y="3259403"/>
            <a:ext cx="284293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Risky defaults</a:t>
            </a:r>
            <a:endParaRPr lang="en-US" sz="1600" dirty="0"/>
          </a:p>
        </p:txBody>
      </p:sp>
      <p:sp>
        <p:nvSpPr>
          <p:cNvPr id="11" name="Text 7"/>
          <p:cNvSpPr/>
          <p:nvPr/>
        </p:nvSpPr>
        <p:spPr>
          <a:xfrm>
            <a:off x="4715933" y="3604816"/>
            <a:ext cx="284293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Telnet, UPnP and default admin passwords often ship switched on, ready for attackers.</a:t>
            </a:r>
            <a:endParaRPr lang="en-US" sz="1400" dirty="0"/>
          </a:p>
        </p:txBody>
      </p:sp>
      <p:sp>
        <p:nvSpPr>
          <p:cNvPr id="12" name="Shape 8"/>
          <p:cNvSpPr/>
          <p:nvPr/>
        </p:nvSpPr>
        <p:spPr>
          <a:xfrm>
            <a:off x="7995709" y="2492111"/>
            <a:ext cx="3380317" cy="2418159"/>
          </a:xfrm>
          <a:prstGeom prst="roundRect">
            <a:avLst>
              <a:gd name="adj" fmla="val 4070"/>
            </a:avLst>
          </a:prstGeom>
          <a:solidFill>
            <a:srgbClr val="FBFCFB"/>
          </a:solidFill>
          <a:ln w="6350">
            <a:solidFill>
              <a:srgbClr val="DCE3E0"/>
            </a:solidFill>
            <a:prstDash val="solid"/>
          </a:ln>
        </p:spPr>
      </p:sp>
      <p:pic>
        <p:nvPicPr>
          <p:cNvPr id="13" name="Image 2" descr="Search">    </p:cNvPr>
          <p:cNvPicPr>
            <a:picLocks noChangeAspect="1"/>
          </p:cNvPicPr>
          <p:nvPr/>
        </p:nvPicPr>
        <p:blipFill>
          <a:blip r:embed="rId3"/>
          <a:srcRect l="0" r="0" t="0" b="0"/>
          <a:stretch/>
        </p:blipFill>
        <p:spPr>
          <a:xfrm>
            <a:off x="8305800" y="2802203"/>
            <a:ext cx="355600" cy="355600"/>
          </a:xfrm>
          <a:prstGeom prst="rect">
            <a:avLst/>
          </a:prstGeom>
        </p:spPr>
      </p:pic>
      <p:sp>
        <p:nvSpPr>
          <p:cNvPr id="14" name="Text 9"/>
          <p:cNvSpPr/>
          <p:nvPr/>
        </p:nvSpPr>
        <p:spPr>
          <a:xfrm>
            <a:off x="8305800" y="3259403"/>
            <a:ext cx="284293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No visibility</a:t>
            </a:r>
            <a:endParaRPr lang="en-US" sz="1600" dirty="0"/>
          </a:p>
        </p:txBody>
      </p:sp>
      <p:sp>
        <p:nvSpPr>
          <p:cNvPr id="15" name="Text 10"/>
          <p:cNvSpPr/>
          <p:nvPr/>
        </p:nvSpPr>
        <p:spPr>
          <a:xfrm>
            <a:off x="8305800" y="3604816"/>
            <a:ext cx="2842937"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People can't see which devices are on their Wi-Fi, what is exposed, or when something new appears.</a:t>
            </a:r>
            <a:endParaRPr lang="en-US" sz="1400" dirty="0"/>
          </a:p>
        </p:txBody>
      </p:sp>
      <p:sp>
        <p:nvSpPr>
          <p:cNvPr id="16" name="Text 11"/>
          <p:cNvSpPr/>
          <p:nvPr/>
        </p:nvSpPr>
        <p:spPr>
          <a:xfrm>
            <a:off x="812800" y="5269045"/>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81D"/>
                </a:solidFill>
                <a:latin typeface="IBM Plex Sans" pitchFamily="34" charset="0"/>
                <a:ea typeface="IBM Plex Sans" pitchFamily="34" charset="-122"/>
                <a:cs typeface="IBM Plex Sans" pitchFamily="34" charset="-120"/>
              </a:rPr>
              <a:t>Security tools exist for companies. </a:t>
            </a:r>
            <a:r>
              <a:rPr lang="en-US" sz="1600" b="1" dirty="0">
                <a:solidFill>
                  <a:srgbClr val="14181D"/>
                </a:solidFill>
                <a:latin typeface="IBM Plex Sans" pitchFamily="34" charset="0"/>
                <a:ea typeface="IBM Plex Sans" pitchFamily="34" charset="-122"/>
                <a:cs typeface="IBM Plex Sans" pitchFamily="34" charset="-120"/>
              </a:rPr>
              <a:t>Home users get almost nothing they can understand.</a:t>
            </a:r>
            <a:endParaRPr lang="en-US" sz="1600" dirty="0"/>
          </a:p>
        </p:txBody>
      </p:sp>
      <p:sp>
        <p:nvSpPr>
          <p:cNvPr id="17" name="Text 12"/>
          <p:cNvSpPr/>
          <p:nvPr/>
        </p:nvSpPr>
        <p:spPr>
          <a:xfrm>
            <a:off x="812800" y="6238346"/>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NetGuard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3D33"/>
        </a:solidFill>
      </p:bgPr>
    </p:bg>
    <p:spTree>
      <p:nvGrpSpPr>
        <p:cNvPr id="1" name=""/>
        <p:cNvGrpSpPr/>
        <p:nvPr/>
      </p:nvGrpSpPr>
      <p:grpSpPr>
        <a:xfrm>
          <a:off x="0" y="0"/>
          <a:ext cx="0" cy="0"/>
          <a:chOff x="0" y="0"/>
          <a:chExt cx="0" cy="0"/>
        </a:xfrm>
      </p:grpSpPr>
      <p:sp>
        <p:nvSpPr>
          <p:cNvPr id="2" name="Text 0"/>
          <p:cNvSpPr/>
          <p:nvPr/>
        </p:nvSpPr>
        <p:spPr>
          <a:xfrm>
            <a:off x="812800" y="1438672"/>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FD3A2"/>
                </a:solidFill>
                <a:latin typeface="JetBrains Mono" pitchFamily="49" charset="0"/>
                <a:ea typeface="JetBrains Mono" pitchFamily="49" charset="-122"/>
                <a:cs typeface="JetBrains Mono" pitchFamily="49" charset="-120"/>
              </a:rPr>
              <a:t>THE SOLUTION</a:t>
            </a:r>
            <a:endParaRPr lang="en-US" sz="1200" dirty="0"/>
          </a:p>
        </p:txBody>
      </p:sp>
      <p:sp>
        <p:nvSpPr>
          <p:cNvPr id="3" name="Text 1"/>
          <p:cNvSpPr/>
          <p:nvPr>
            <p:ph type="title"/>
          </p:nvPr>
        </p:nvSpPr>
        <p:spPr>
          <a:xfrm>
            <a:off x="812800" y="1804327"/>
            <a:ext cx="9941560" cy="1561306"/>
          </a:xfrm>
          <a:prstGeom prst="rect">
            <a:avLst/>
          </a:prstGeom>
          <a:noFill/>
          <a:ln/>
        </p:spPr>
        <p:txBody>
          <a:bodyPr wrap="square" lIns="0" tIns="0" rIns="0" bIns="0" rtlCol="0" anchor="t">
            <a:normAutofit/>
          </a:bodyPr>
          <a:lstStyle/>
          <a:p>
            <a:pPr algn="l" indent="0" marL="0">
              <a:lnSpc>
                <a:spcPts val="4032"/>
              </a:lnSpc>
              <a:buNone/>
            </a:pPr>
            <a:r>
              <a:rPr lang="en-US" sz="3600" b="1" i="0" dirty="0">
                <a:solidFill>
                  <a:srgbClr val="EEF1F4"/>
                </a:solidFill>
                <a:latin typeface="Space Grotesk" pitchFamily="34" charset="0"/>
                <a:ea typeface="Space Grotesk" pitchFamily="34" charset="-122"/>
                <a:cs typeface="Space Grotesk" pitchFamily="34" charset="-120"/>
              </a:rPr>
              <a:t>NetGuard scans your network, explains every risk in plain language, and shows exactly how to fix it.</a:t>
            </a:r>
            <a:endParaRPr lang="en-US" sz="3600" dirty="0"/>
          </a:p>
        </p:txBody>
      </p:sp>
      <p:sp>
        <p:nvSpPr>
          <p:cNvPr id="4" name="Shape 2"/>
          <p:cNvSpPr/>
          <p:nvPr/>
        </p:nvSpPr>
        <p:spPr>
          <a:xfrm>
            <a:off x="812800" y="3806958"/>
            <a:ext cx="3386667" cy="0"/>
          </a:xfrm>
          <a:prstGeom prst="line">
            <a:avLst/>
          </a:prstGeom>
          <a:noFill/>
          <a:ln w="19050">
            <a:solidFill>
              <a:srgbClr val="2FD3A2"/>
            </a:solidFill>
            <a:prstDash val="solid"/>
          </a:ln>
        </p:spPr>
      </p:sp>
      <p:sp>
        <p:nvSpPr>
          <p:cNvPr id="5" name="Text 3"/>
          <p:cNvSpPr/>
          <p:nvPr/>
        </p:nvSpPr>
        <p:spPr>
          <a:xfrm>
            <a:off x="812800" y="4017566"/>
            <a:ext cx="34882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D3A2"/>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812800" y="4307021"/>
            <a:ext cx="348826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1F4"/>
                </a:solidFill>
                <a:latin typeface="Space Grotesk" pitchFamily="34" charset="0"/>
                <a:ea typeface="Space Grotesk" pitchFamily="34" charset="-122"/>
                <a:cs typeface="Space Grotesk" pitchFamily="34" charset="-120"/>
              </a:rPr>
              <a:t>Detect</a:t>
            </a:r>
            <a:endParaRPr lang="en-US" sz="2200" dirty="0"/>
          </a:p>
        </p:txBody>
      </p:sp>
      <p:sp>
        <p:nvSpPr>
          <p:cNvPr id="7" name="Text 5"/>
          <p:cNvSpPr/>
          <p:nvPr/>
        </p:nvSpPr>
        <p:spPr>
          <a:xfrm>
            <a:off x="812800" y="4718447"/>
            <a:ext cx="348826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D9D3"/>
                </a:solidFill>
                <a:latin typeface="IBM Plex Sans" pitchFamily="34" charset="0"/>
                <a:ea typeface="IBM Plex Sans" pitchFamily="34" charset="-122"/>
                <a:cs typeface="IBM Plex Sans" pitchFamily="34" charset="-120"/>
              </a:rPr>
              <a:t>Find devices, open ports, services and weak settings.</a:t>
            </a:r>
            <a:endParaRPr lang="en-US" sz="1400" dirty="0"/>
          </a:p>
        </p:txBody>
      </p:sp>
      <p:sp>
        <p:nvSpPr>
          <p:cNvPr id="8" name="Shape 6"/>
          <p:cNvSpPr/>
          <p:nvPr/>
        </p:nvSpPr>
        <p:spPr>
          <a:xfrm>
            <a:off x="4402667" y="3806958"/>
            <a:ext cx="3386667" cy="0"/>
          </a:xfrm>
          <a:prstGeom prst="line">
            <a:avLst/>
          </a:prstGeom>
          <a:noFill/>
          <a:ln w="19050">
            <a:solidFill>
              <a:srgbClr val="2FD3A2"/>
            </a:solidFill>
            <a:prstDash val="solid"/>
          </a:ln>
        </p:spPr>
      </p:sp>
      <p:sp>
        <p:nvSpPr>
          <p:cNvPr id="9" name="Text 7"/>
          <p:cNvSpPr/>
          <p:nvPr/>
        </p:nvSpPr>
        <p:spPr>
          <a:xfrm>
            <a:off x="4402667" y="4017566"/>
            <a:ext cx="34882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D3A2"/>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4402667" y="4307021"/>
            <a:ext cx="348826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1F4"/>
                </a:solidFill>
                <a:latin typeface="Space Grotesk" pitchFamily="34" charset="0"/>
                <a:ea typeface="Space Grotesk" pitchFamily="34" charset="-122"/>
                <a:cs typeface="Space Grotesk" pitchFamily="34" charset="-120"/>
              </a:rPr>
              <a:t>Explain</a:t>
            </a:r>
            <a:endParaRPr lang="en-US" sz="2200" dirty="0"/>
          </a:p>
        </p:txBody>
      </p:sp>
      <p:sp>
        <p:nvSpPr>
          <p:cNvPr id="11" name="Text 9"/>
          <p:cNvSpPr/>
          <p:nvPr/>
        </p:nvSpPr>
        <p:spPr>
          <a:xfrm>
            <a:off x="4402667" y="4718447"/>
            <a:ext cx="348826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D9D3"/>
                </a:solidFill>
                <a:latin typeface="IBM Plex Sans" pitchFamily="34" charset="0"/>
                <a:ea typeface="IBM Plex Sans" pitchFamily="34" charset="-122"/>
                <a:cs typeface="IBM Plex Sans" pitchFamily="34" charset="-120"/>
              </a:rPr>
              <a:t>Say why each issue matters, with the evidence behind it.</a:t>
            </a:r>
            <a:endParaRPr lang="en-US" sz="1400" dirty="0"/>
          </a:p>
        </p:txBody>
      </p:sp>
      <p:sp>
        <p:nvSpPr>
          <p:cNvPr id="12" name="Shape 10"/>
          <p:cNvSpPr/>
          <p:nvPr/>
        </p:nvSpPr>
        <p:spPr>
          <a:xfrm>
            <a:off x="7992534" y="3806958"/>
            <a:ext cx="3386667" cy="0"/>
          </a:xfrm>
          <a:prstGeom prst="line">
            <a:avLst/>
          </a:prstGeom>
          <a:noFill/>
          <a:ln w="19050">
            <a:solidFill>
              <a:srgbClr val="2FD3A2"/>
            </a:solidFill>
            <a:prstDash val="solid"/>
          </a:ln>
        </p:spPr>
      </p:sp>
      <p:sp>
        <p:nvSpPr>
          <p:cNvPr id="13" name="Text 11"/>
          <p:cNvSpPr/>
          <p:nvPr/>
        </p:nvSpPr>
        <p:spPr>
          <a:xfrm>
            <a:off x="7992534" y="4017566"/>
            <a:ext cx="34882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D3A2"/>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7992534" y="4307021"/>
            <a:ext cx="3488267"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1F4"/>
                </a:solidFill>
                <a:latin typeface="Space Grotesk" pitchFamily="34" charset="0"/>
                <a:ea typeface="Space Grotesk" pitchFamily="34" charset="-122"/>
                <a:cs typeface="Space Grotesk" pitchFamily="34" charset="-120"/>
              </a:rPr>
              <a:t>Recommend</a:t>
            </a:r>
            <a:endParaRPr lang="en-US" sz="2200" dirty="0"/>
          </a:p>
        </p:txBody>
      </p:sp>
      <p:sp>
        <p:nvSpPr>
          <p:cNvPr id="15" name="Text 13"/>
          <p:cNvSpPr/>
          <p:nvPr/>
        </p:nvSpPr>
        <p:spPr>
          <a:xfrm>
            <a:off x="7992534" y="4718447"/>
            <a:ext cx="348826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4D9D3"/>
                </a:solidFill>
                <a:latin typeface="IBM Plex Sans" pitchFamily="34" charset="0"/>
                <a:ea typeface="IBM Plex Sans" pitchFamily="34" charset="-122"/>
                <a:cs typeface="IBM Plex Sans" pitchFamily="34" charset="-120"/>
              </a:rPr>
              <a:t>Give a clear fix for every finding, most urgent first.</a:t>
            </a:r>
            <a:endParaRPr lang="en-US" sz="1400" dirty="0"/>
          </a:p>
        </p:txBody>
      </p:sp>
      <p:sp>
        <p:nvSpPr>
          <p:cNvPr id="16" name="Text 14"/>
          <p:cNvSpPr/>
          <p:nvPr/>
        </p:nvSpPr>
        <p:spPr>
          <a:xfrm>
            <a:off x="812800" y="6238346"/>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C2B8"/>
                </a:solidFill>
                <a:latin typeface="JetBrains Mono" pitchFamily="49" charset="0"/>
                <a:ea typeface="JetBrains Mono" pitchFamily="49" charset="-122"/>
                <a:cs typeface="JetBrains Mono" pitchFamily="49" charset="-120"/>
              </a:rPr>
              <a:t>NetGuard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E"/>
                </a:solidFill>
                <a:latin typeface="JetBrains Mono" pitchFamily="49" charset="0"/>
                <a:ea typeface="JetBrains Mono" pitchFamily="49" charset="-122"/>
                <a:cs typeface="JetBrains Mono" pitchFamily="49" charset="-120"/>
              </a:rPr>
              <a:t>HOW IT WORKS</a:t>
            </a:r>
            <a:endParaRPr lang="en-US" sz="1200" dirty="0"/>
          </a:p>
        </p:txBody>
      </p:sp>
      <p:sp>
        <p:nvSpPr>
          <p:cNvPr id="3" name="Text 1"/>
          <p:cNvSpPr/>
          <p:nvPr>
            <p:ph type="title"/>
          </p:nvPr>
        </p:nvSpPr>
        <p:spPr>
          <a:xfrm>
            <a:off x="812800" y="1127655"/>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Six steps, one click</a:t>
            </a:r>
            <a:endParaRPr lang="en-US" sz="3600" dirty="0"/>
          </a:p>
        </p:txBody>
      </p:sp>
      <p:sp>
        <p:nvSpPr>
          <p:cNvPr id="4" name="Shape 2"/>
          <p:cNvSpPr/>
          <p:nvPr/>
        </p:nvSpPr>
        <p:spPr>
          <a:xfrm>
            <a:off x="815975" y="1989271"/>
            <a:ext cx="1670050" cy="1910027"/>
          </a:xfrm>
          <a:prstGeom prst="roundRect">
            <a:avLst>
              <a:gd name="adj" fmla="val 4373"/>
            </a:avLst>
          </a:prstGeom>
          <a:solidFill>
            <a:srgbClr val="FBFCFB"/>
          </a:solidFill>
          <a:ln w="6350">
            <a:solidFill>
              <a:srgbClr val="DCE3E0"/>
            </a:solidFill>
            <a:prstDash val="solid"/>
          </a:ln>
        </p:spPr>
      </p:sp>
      <p:sp>
        <p:nvSpPr>
          <p:cNvPr id="5" name="Text 3"/>
          <p:cNvSpPr/>
          <p:nvPr/>
        </p:nvSpPr>
        <p:spPr>
          <a:xfrm>
            <a:off x="1024467" y="2197762"/>
            <a:ext cx="13038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E"/>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24467" y="2487216"/>
            <a:ext cx="1303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Discover</a:t>
            </a:r>
            <a:endParaRPr lang="en-US" sz="1600" dirty="0"/>
          </a:p>
        </p:txBody>
      </p:sp>
      <p:sp>
        <p:nvSpPr>
          <p:cNvPr id="7" name="Text 5"/>
          <p:cNvSpPr/>
          <p:nvPr/>
        </p:nvSpPr>
        <p:spPr>
          <a:xfrm>
            <a:off x="1024467" y="2807230"/>
            <a:ext cx="1303867" cy="6651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Ping and ARP sweep finds every device</a:t>
            </a:r>
            <a:endParaRPr lang="en-US" sz="1200" dirty="0"/>
          </a:p>
        </p:txBody>
      </p:sp>
      <p:sp>
        <p:nvSpPr>
          <p:cNvPr id="8" name="Shape 6"/>
          <p:cNvSpPr/>
          <p:nvPr/>
        </p:nvSpPr>
        <p:spPr>
          <a:xfrm>
            <a:off x="2593975" y="1989271"/>
            <a:ext cx="1670050" cy="1910027"/>
          </a:xfrm>
          <a:prstGeom prst="roundRect">
            <a:avLst>
              <a:gd name="adj" fmla="val 4373"/>
            </a:avLst>
          </a:prstGeom>
          <a:solidFill>
            <a:srgbClr val="FBFCFB"/>
          </a:solidFill>
          <a:ln w="6350">
            <a:solidFill>
              <a:srgbClr val="DCE3E0"/>
            </a:solidFill>
            <a:prstDash val="solid"/>
          </a:ln>
        </p:spPr>
      </p:sp>
      <p:sp>
        <p:nvSpPr>
          <p:cNvPr id="9" name="Text 7"/>
          <p:cNvSpPr/>
          <p:nvPr/>
        </p:nvSpPr>
        <p:spPr>
          <a:xfrm>
            <a:off x="2802467" y="2197762"/>
            <a:ext cx="13038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E"/>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2802467" y="2487216"/>
            <a:ext cx="1303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Scan ports</a:t>
            </a:r>
            <a:endParaRPr lang="en-US" sz="1600" dirty="0"/>
          </a:p>
        </p:txBody>
      </p:sp>
      <p:sp>
        <p:nvSpPr>
          <p:cNvPr id="11" name="Text 9"/>
          <p:cNvSpPr/>
          <p:nvPr/>
        </p:nvSpPr>
        <p:spPr>
          <a:xfrm>
            <a:off x="2802467" y="2807230"/>
            <a:ext cx="1303867" cy="6651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Common ports, or 1 to 1024 in Full mode</a:t>
            </a:r>
            <a:endParaRPr lang="en-US" sz="1200" dirty="0"/>
          </a:p>
        </p:txBody>
      </p:sp>
      <p:sp>
        <p:nvSpPr>
          <p:cNvPr id="12" name="Shape 10"/>
          <p:cNvSpPr/>
          <p:nvPr/>
        </p:nvSpPr>
        <p:spPr>
          <a:xfrm>
            <a:off x="4371975" y="1989271"/>
            <a:ext cx="1670050" cy="1910027"/>
          </a:xfrm>
          <a:prstGeom prst="roundRect">
            <a:avLst>
              <a:gd name="adj" fmla="val 4373"/>
            </a:avLst>
          </a:prstGeom>
          <a:solidFill>
            <a:srgbClr val="FBFCFB"/>
          </a:solidFill>
          <a:ln w="6350">
            <a:solidFill>
              <a:srgbClr val="DCE3E0"/>
            </a:solidFill>
            <a:prstDash val="solid"/>
          </a:ln>
        </p:spPr>
      </p:sp>
      <p:sp>
        <p:nvSpPr>
          <p:cNvPr id="13" name="Text 11"/>
          <p:cNvSpPr/>
          <p:nvPr/>
        </p:nvSpPr>
        <p:spPr>
          <a:xfrm>
            <a:off x="4580467" y="2197762"/>
            <a:ext cx="13038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E"/>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4580467" y="2487216"/>
            <a:ext cx="1303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Identify</a:t>
            </a:r>
            <a:endParaRPr lang="en-US" sz="1600" dirty="0"/>
          </a:p>
        </p:txBody>
      </p:sp>
      <p:sp>
        <p:nvSpPr>
          <p:cNvPr id="15" name="Text 13"/>
          <p:cNvSpPr/>
          <p:nvPr/>
        </p:nvSpPr>
        <p:spPr>
          <a:xfrm>
            <a:off x="4580467" y="2807230"/>
            <a:ext cx="1303867" cy="6651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Reads service banners, versions and TLS</a:t>
            </a:r>
            <a:endParaRPr lang="en-US" sz="1200" dirty="0"/>
          </a:p>
        </p:txBody>
      </p:sp>
      <p:sp>
        <p:nvSpPr>
          <p:cNvPr id="16" name="Shape 14"/>
          <p:cNvSpPr/>
          <p:nvPr/>
        </p:nvSpPr>
        <p:spPr>
          <a:xfrm>
            <a:off x="6149975" y="1989271"/>
            <a:ext cx="1670050" cy="1910027"/>
          </a:xfrm>
          <a:prstGeom prst="roundRect">
            <a:avLst>
              <a:gd name="adj" fmla="val 4373"/>
            </a:avLst>
          </a:prstGeom>
          <a:solidFill>
            <a:srgbClr val="FBFCFB"/>
          </a:solidFill>
          <a:ln w="6350">
            <a:solidFill>
              <a:srgbClr val="DCE3E0"/>
            </a:solidFill>
            <a:prstDash val="solid"/>
          </a:ln>
        </p:spPr>
      </p:sp>
      <p:sp>
        <p:nvSpPr>
          <p:cNvPr id="17" name="Text 15"/>
          <p:cNvSpPr/>
          <p:nvPr/>
        </p:nvSpPr>
        <p:spPr>
          <a:xfrm>
            <a:off x="6358467" y="2197762"/>
            <a:ext cx="13038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E"/>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6358467" y="2487216"/>
            <a:ext cx="1303867"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Check config</a:t>
            </a:r>
            <a:endParaRPr lang="en-US" sz="1600" dirty="0"/>
          </a:p>
        </p:txBody>
      </p:sp>
      <p:sp>
        <p:nvSpPr>
          <p:cNvPr id="19" name="Text 17"/>
          <p:cNvSpPr/>
          <p:nvPr/>
        </p:nvSpPr>
        <p:spPr>
          <a:xfrm>
            <a:off x="6358467" y="3051043"/>
            <a:ext cx="1303867" cy="6651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SMBv1, SNMP, anonymous FTP, UPnP, TLS</a:t>
            </a:r>
            <a:endParaRPr lang="en-US" sz="1200" dirty="0"/>
          </a:p>
        </p:txBody>
      </p:sp>
      <p:sp>
        <p:nvSpPr>
          <p:cNvPr id="20" name="Shape 18"/>
          <p:cNvSpPr/>
          <p:nvPr/>
        </p:nvSpPr>
        <p:spPr>
          <a:xfrm>
            <a:off x="7927975" y="1989271"/>
            <a:ext cx="1670050" cy="1910027"/>
          </a:xfrm>
          <a:prstGeom prst="roundRect">
            <a:avLst>
              <a:gd name="adj" fmla="val 4373"/>
            </a:avLst>
          </a:prstGeom>
          <a:solidFill>
            <a:srgbClr val="FBFCFB"/>
          </a:solidFill>
          <a:ln w="6350">
            <a:solidFill>
              <a:srgbClr val="DCE3E0"/>
            </a:solidFill>
            <a:prstDash val="solid"/>
          </a:ln>
        </p:spPr>
      </p:sp>
      <p:sp>
        <p:nvSpPr>
          <p:cNvPr id="21" name="Text 19"/>
          <p:cNvSpPr/>
          <p:nvPr/>
        </p:nvSpPr>
        <p:spPr>
          <a:xfrm>
            <a:off x="8136467" y="2197762"/>
            <a:ext cx="13038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E"/>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8136467" y="2487216"/>
            <a:ext cx="1303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Assess risk</a:t>
            </a:r>
            <a:endParaRPr lang="en-US" sz="1600" dirty="0"/>
          </a:p>
        </p:txBody>
      </p:sp>
      <p:sp>
        <p:nvSpPr>
          <p:cNvPr id="23" name="Text 21"/>
          <p:cNvSpPr/>
          <p:nvPr/>
        </p:nvSpPr>
        <p:spPr>
          <a:xfrm>
            <a:off x="8136467" y="2807230"/>
            <a:ext cx="1303867"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40+ rules and a 0 to 100 score</a:t>
            </a:r>
            <a:endParaRPr lang="en-US" sz="1200" dirty="0"/>
          </a:p>
        </p:txBody>
      </p:sp>
      <p:sp>
        <p:nvSpPr>
          <p:cNvPr id="24" name="Shape 22"/>
          <p:cNvSpPr/>
          <p:nvPr/>
        </p:nvSpPr>
        <p:spPr>
          <a:xfrm>
            <a:off x="9705975" y="1989271"/>
            <a:ext cx="1670050" cy="1910027"/>
          </a:xfrm>
          <a:prstGeom prst="roundRect">
            <a:avLst>
              <a:gd name="adj" fmla="val 4373"/>
            </a:avLst>
          </a:prstGeom>
          <a:solidFill>
            <a:srgbClr val="FBFCFB"/>
          </a:solidFill>
          <a:ln w="6350">
            <a:solidFill>
              <a:srgbClr val="DCE3E0"/>
            </a:solidFill>
            <a:prstDash val="solid"/>
          </a:ln>
        </p:spPr>
      </p:sp>
      <p:sp>
        <p:nvSpPr>
          <p:cNvPr id="25" name="Text 23"/>
          <p:cNvSpPr/>
          <p:nvPr/>
        </p:nvSpPr>
        <p:spPr>
          <a:xfrm>
            <a:off x="9914467" y="2197762"/>
            <a:ext cx="1303867"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7A5E"/>
                </a:solidFill>
                <a:latin typeface="JetBrains Mono" pitchFamily="49" charset="0"/>
                <a:ea typeface="JetBrains Mono" pitchFamily="49" charset="-122"/>
                <a:cs typeface="JetBrains Mono" pitchFamily="49" charset="-120"/>
              </a:rPr>
              <a:t>06</a:t>
            </a:r>
            <a:endParaRPr lang="en-US" sz="1200" dirty="0"/>
          </a:p>
        </p:txBody>
      </p:sp>
      <p:sp>
        <p:nvSpPr>
          <p:cNvPr id="26" name="Text 24"/>
          <p:cNvSpPr/>
          <p:nvPr/>
        </p:nvSpPr>
        <p:spPr>
          <a:xfrm>
            <a:off x="9914467" y="2487216"/>
            <a:ext cx="13038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Report</a:t>
            </a:r>
            <a:endParaRPr lang="en-US" sz="1600" dirty="0"/>
          </a:p>
        </p:txBody>
      </p:sp>
      <p:sp>
        <p:nvSpPr>
          <p:cNvPr id="27" name="Text 25"/>
          <p:cNvSpPr/>
          <p:nvPr/>
        </p:nvSpPr>
        <p:spPr>
          <a:xfrm>
            <a:off x="9914467" y="2807230"/>
            <a:ext cx="1303867" cy="6651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Fixes, alerts, history and PDF reports</a:t>
            </a:r>
            <a:endParaRPr lang="en-US" sz="1200" dirty="0"/>
          </a:p>
        </p:txBody>
      </p:sp>
      <p:sp>
        <p:nvSpPr>
          <p:cNvPr id="28" name="Text 26"/>
          <p:cNvSpPr/>
          <p:nvPr/>
        </p:nvSpPr>
        <p:spPr>
          <a:xfrm>
            <a:off x="812800" y="4258072"/>
            <a:ext cx="5284724" cy="57388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4181D"/>
                </a:solidFill>
                <a:latin typeface="IBM Plex Sans" pitchFamily="34" charset="0"/>
                <a:ea typeface="IBM Plex Sans" pitchFamily="34" charset="-122"/>
                <a:cs typeface="IBM Plex Sans" pitchFamily="34" charset="-120"/>
              </a:rPr>
              <a:t>About 30 seconds</a:t>
            </a:r>
            <a:r>
              <a:rPr lang="en-US" sz="1600" dirty="0">
                <a:solidFill>
                  <a:srgbClr val="14181D"/>
                </a:solidFill>
                <a:latin typeface="IBM Plex Sans" pitchFamily="34" charset="0"/>
                <a:ea typeface="IBM Plex Sans" pitchFamily="34" charset="-122"/>
                <a:cs typeface="IBM Plex Sans" pitchFamily="34" charset="-120"/>
              </a:rPr>
              <a:t> for a quick scan of a typical home network.</a:t>
            </a:r>
            <a:endParaRPr lang="en-US" sz="1600" dirty="0"/>
          </a:p>
        </p:txBody>
      </p:sp>
      <p:sp>
        <p:nvSpPr>
          <p:cNvPr id="29" name="Text 27"/>
          <p:cNvSpPr/>
          <p:nvPr/>
        </p:nvSpPr>
        <p:spPr>
          <a:xfrm>
            <a:off x="6248400" y="4258072"/>
            <a:ext cx="5284724" cy="57388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4181D"/>
                </a:solidFill>
                <a:latin typeface="IBM Plex Sans" pitchFamily="34" charset="0"/>
                <a:ea typeface="IBM Plex Sans" pitchFamily="34" charset="-122"/>
                <a:cs typeface="IBM Plex Sans" pitchFamily="34" charset="-120"/>
              </a:rPr>
              <a:t>Nothing is exploited.</a:t>
            </a:r>
            <a:r>
              <a:rPr lang="en-US" sz="1600" dirty="0">
                <a:solidFill>
                  <a:srgbClr val="14181D"/>
                </a:solidFill>
                <a:latin typeface="IBM Plex Sans" pitchFamily="34" charset="0"/>
                <a:ea typeface="IBM Plex Sans" pitchFamily="34" charset="-122"/>
                <a:cs typeface="IBM Plex Sans" pitchFamily="34" charset="-120"/>
              </a:rPr>
              <a:t> Every probe only asks a device what it supports.</a:t>
            </a:r>
            <a:endParaRPr lang="en-US" sz="1600" dirty="0"/>
          </a:p>
        </p:txBody>
      </p:sp>
      <p:sp>
        <p:nvSpPr>
          <p:cNvPr id="30" name="Text 28"/>
          <p:cNvSpPr/>
          <p:nvPr/>
        </p:nvSpPr>
        <p:spPr>
          <a:xfrm>
            <a:off x="812800" y="6238348"/>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NetGuard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D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E"/>
                </a:solidFill>
                <a:latin typeface="JetBrains Mono" pitchFamily="49" charset="0"/>
                <a:ea typeface="JetBrains Mono" pitchFamily="49" charset="-122"/>
                <a:cs typeface="JetBrains Mono" pitchFamily="49" charset="-120"/>
              </a:rPr>
              <a:t>FEATURES</a:t>
            </a:r>
            <a:endParaRPr lang="en-US" sz="1200" dirty="0"/>
          </a:p>
        </p:txBody>
      </p:sp>
      <p:sp>
        <p:nvSpPr>
          <p:cNvPr id="3" name="Text 1"/>
          <p:cNvSpPr/>
          <p:nvPr>
            <p:ph type="title"/>
          </p:nvPr>
        </p:nvSpPr>
        <p:spPr>
          <a:xfrm>
            <a:off x="812800" y="1127655"/>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Everything in one desktop app</a:t>
            </a:r>
            <a:endParaRPr lang="en-US" sz="3600" dirty="0"/>
          </a:p>
        </p:txBody>
      </p:sp>
      <p:sp>
        <p:nvSpPr>
          <p:cNvPr id="4" name="Shape 2"/>
          <p:cNvSpPr/>
          <p:nvPr/>
        </p:nvSpPr>
        <p:spPr>
          <a:xfrm>
            <a:off x="812800" y="1935296"/>
            <a:ext cx="3420533" cy="1559322"/>
          </a:xfrm>
          <a:prstGeom prst="roundRect">
            <a:avLst>
              <a:gd name="adj" fmla="val 6516"/>
            </a:avLst>
          </a:prstGeom>
          <a:solidFill>
            <a:srgbClr val="FBFCFB"/>
          </a:solidFill>
          <a:ln/>
        </p:spPr>
      </p:sp>
      <p:pic>
        <p:nvPicPr>
          <p:cNvPr id="5" name="Image 0" descr="Globe">    </p:cNvPr>
          <p:cNvPicPr>
            <a:picLocks noChangeAspect="1"/>
          </p:cNvPicPr>
          <p:nvPr/>
        </p:nvPicPr>
        <p:blipFill>
          <a:blip r:embed="rId1"/>
          <a:srcRect l="0" r="0" t="0" b="0"/>
          <a:stretch/>
        </p:blipFill>
        <p:spPr>
          <a:xfrm>
            <a:off x="1041400" y="2163896"/>
            <a:ext cx="279400" cy="279400"/>
          </a:xfrm>
          <a:prstGeom prst="rect">
            <a:avLst/>
          </a:prstGeom>
        </p:spPr>
      </p:pic>
      <p:sp>
        <p:nvSpPr>
          <p:cNvPr id="6" name="Text 3"/>
          <p:cNvSpPr/>
          <p:nvPr/>
        </p:nvSpPr>
        <p:spPr>
          <a:xfrm>
            <a:off x="1041400" y="2519496"/>
            <a:ext cx="30522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Wi-Fi survey</a:t>
            </a:r>
            <a:endParaRPr lang="en-US" sz="1600" dirty="0"/>
          </a:p>
        </p:txBody>
      </p:sp>
      <p:sp>
        <p:nvSpPr>
          <p:cNvPr id="7" name="Text 4"/>
          <p:cNvSpPr/>
          <p:nvPr/>
        </p:nvSpPr>
        <p:spPr>
          <a:xfrm>
            <a:off x="1041400" y="2839510"/>
            <a:ext cx="3052233"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Signal strength, channels and the security of every nearby network.</a:t>
            </a:r>
            <a:endParaRPr lang="en-US" sz="1200" dirty="0"/>
          </a:p>
        </p:txBody>
      </p:sp>
      <p:sp>
        <p:nvSpPr>
          <p:cNvPr id="8" name="Shape 5"/>
          <p:cNvSpPr/>
          <p:nvPr/>
        </p:nvSpPr>
        <p:spPr>
          <a:xfrm>
            <a:off x="4385733" y="1935296"/>
            <a:ext cx="3420533" cy="1559322"/>
          </a:xfrm>
          <a:prstGeom prst="roundRect">
            <a:avLst>
              <a:gd name="adj" fmla="val 6516"/>
            </a:avLst>
          </a:prstGeom>
          <a:solidFill>
            <a:srgbClr val="FBFCFB"/>
          </a:solidFill>
          <a:ln/>
        </p:spPr>
      </p:sp>
      <p:pic>
        <p:nvPicPr>
          <p:cNvPr id="9" name="Image 1" descr="Search">    </p:cNvPr>
          <p:cNvPicPr>
            <a:picLocks noChangeAspect="1"/>
          </p:cNvPicPr>
          <p:nvPr/>
        </p:nvPicPr>
        <p:blipFill>
          <a:blip r:embed="rId2"/>
          <a:srcRect l="0" r="0" t="0" b="0"/>
          <a:stretch/>
        </p:blipFill>
        <p:spPr>
          <a:xfrm>
            <a:off x="4614333" y="2163896"/>
            <a:ext cx="279400" cy="279400"/>
          </a:xfrm>
          <a:prstGeom prst="rect">
            <a:avLst/>
          </a:prstGeom>
        </p:spPr>
      </p:pic>
      <p:sp>
        <p:nvSpPr>
          <p:cNvPr id="10" name="Text 6"/>
          <p:cNvSpPr/>
          <p:nvPr/>
        </p:nvSpPr>
        <p:spPr>
          <a:xfrm>
            <a:off x="4614333" y="2519496"/>
            <a:ext cx="30522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Device discovery</a:t>
            </a:r>
            <a:endParaRPr lang="en-US" sz="1600" dirty="0"/>
          </a:p>
        </p:txBody>
      </p:sp>
      <p:sp>
        <p:nvSpPr>
          <p:cNvPr id="11" name="Text 7"/>
          <p:cNvSpPr/>
          <p:nvPr/>
        </p:nvSpPr>
        <p:spPr>
          <a:xfrm>
            <a:off x="4614333" y="2839510"/>
            <a:ext cx="3052233"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IP, MAC, maker, hostname, OS guess and device type, tracked over time.</a:t>
            </a:r>
            <a:endParaRPr lang="en-US" sz="1200" dirty="0"/>
          </a:p>
        </p:txBody>
      </p:sp>
      <p:sp>
        <p:nvSpPr>
          <p:cNvPr id="12" name="Shape 8"/>
          <p:cNvSpPr/>
          <p:nvPr/>
        </p:nvSpPr>
        <p:spPr>
          <a:xfrm>
            <a:off x="7958667" y="1935296"/>
            <a:ext cx="3420533" cy="1559322"/>
          </a:xfrm>
          <a:prstGeom prst="roundRect">
            <a:avLst>
              <a:gd name="adj" fmla="val 6516"/>
            </a:avLst>
          </a:prstGeom>
          <a:solidFill>
            <a:srgbClr val="FBFCFB"/>
          </a:solidFill>
          <a:ln/>
        </p:spPr>
      </p:sp>
      <p:pic>
        <p:nvPicPr>
          <p:cNvPr id="13" name="Image 2" descr="Code">    </p:cNvPr>
          <p:cNvPicPr>
            <a:picLocks noChangeAspect="1"/>
          </p:cNvPicPr>
          <p:nvPr/>
        </p:nvPicPr>
        <p:blipFill>
          <a:blip r:embed="rId3"/>
          <a:srcRect l="0" r="0" t="0" b="0"/>
          <a:stretch/>
        </p:blipFill>
        <p:spPr>
          <a:xfrm>
            <a:off x="8187267" y="2163896"/>
            <a:ext cx="279400" cy="279400"/>
          </a:xfrm>
          <a:prstGeom prst="rect">
            <a:avLst/>
          </a:prstGeom>
        </p:spPr>
      </p:pic>
      <p:sp>
        <p:nvSpPr>
          <p:cNvPr id="14" name="Text 9"/>
          <p:cNvSpPr/>
          <p:nvPr/>
        </p:nvSpPr>
        <p:spPr>
          <a:xfrm>
            <a:off x="8187267" y="2519496"/>
            <a:ext cx="30522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Port and service scan</a:t>
            </a:r>
            <a:endParaRPr lang="en-US" sz="1600" dirty="0"/>
          </a:p>
        </p:txBody>
      </p:sp>
      <p:sp>
        <p:nvSpPr>
          <p:cNvPr id="15" name="Text 10"/>
          <p:cNvSpPr/>
          <p:nvPr/>
        </p:nvSpPr>
        <p:spPr>
          <a:xfrm>
            <a:off x="8187267" y="2839510"/>
            <a:ext cx="3052233"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Quick, Full, Single Device and Custom modes with version detection.</a:t>
            </a:r>
            <a:endParaRPr lang="en-US" sz="1200" dirty="0"/>
          </a:p>
        </p:txBody>
      </p:sp>
      <p:sp>
        <p:nvSpPr>
          <p:cNvPr id="16" name="Shape 11"/>
          <p:cNvSpPr/>
          <p:nvPr/>
        </p:nvSpPr>
        <p:spPr>
          <a:xfrm>
            <a:off x="812800" y="3647018"/>
            <a:ext cx="3420533" cy="1559322"/>
          </a:xfrm>
          <a:prstGeom prst="roundRect">
            <a:avLst>
              <a:gd name="adj" fmla="val 6516"/>
            </a:avLst>
          </a:prstGeom>
          <a:solidFill>
            <a:srgbClr val="FBFCFB"/>
          </a:solidFill>
          <a:ln/>
        </p:spPr>
      </p:sp>
      <p:pic>
        <p:nvPicPr>
          <p:cNvPr id="17" name="Image 3" descr="Warning">    </p:cNvPr>
          <p:cNvPicPr>
            <a:picLocks noChangeAspect="1"/>
          </p:cNvPicPr>
          <p:nvPr/>
        </p:nvPicPr>
        <p:blipFill>
          <a:blip r:embed="rId4"/>
          <a:srcRect l="0" r="0" t="0" b="0"/>
          <a:stretch/>
        </p:blipFill>
        <p:spPr>
          <a:xfrm>
            <a:off x="1041400" y="3875618"/>
            <a:ext cx="279400" cy="279400"/>
          </a:xfrm>
          <a:prstGeom prst="rect">
            <a:avLst/>
          </a:prstGeom>
        </p:spPr>
      </p:pic>
      <p:sp>
        <p:nvSpPr>
          <p:cNvPr id="18" name="Text 12"/>
          <p:cNvSpPr/>
          <p:nvPr/>
        </p:nvSpPr>
        <p:spPr>
          <a:xfrm>
            <a:off x="1041400" y="4231218"/>
            <a:ext cx="30522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Vulnerability checks</a:t>
            </a:r>
            <a:endParaRPr lang="en-US" sz="1600" dirty="0"/>
          </a:p>
        </p:txBody>
      </p:sp>
      <p:sp>
        <p:nvSpPr>
          <p:cNvPr id="19" name="Text 13"/>
          <p:cNvSpPr/>
          <p:nvPr/>
        </p:nvSpPr>
        <p:spPr>
          <a:xfrm>
            <a:off x="1041400" y="4551232"/>
            <a:ext cx="3052233"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40+ rules for exposed services, weak settings and outdated software.</a:t>
            </a:r>
            <a:endParaRPr lang="en-US" sz="1200" dirty="0"/>
          </a:p>
        </p:txBody>
      </p:sp>
      <p:sp>
        <p:nvSpPr>
          <p:cNvPr id="20" name="Shape 14"/>
          <p:cNvSpPr/>
          <p:nvPr/>
        </p:nvSpPr>
        <p:spPr>
          <a:xfrm>
            <a:off x="4385733" y="3647018"/>
            <a:ext cx="3420533" cy="1559322"/>
          </a:xfrm>
          <a:prstGeom prst="roundRect">
            <a:avLst>
              <a:gd name="adj" fmla="val 6516"/>
            </a:avLst>
          </a:prstGeom>
          <a:solidFill>
            <a:srgbClr val="FBFCFB"/>
          </a:solidFill>
          <a:ln/>
        </p:spPr>
      </p:sp>
      <p:pic>
        <p:nvPicPr>
          <p:cNvPr id="21" name="Image 4" descr="Chart">    </p:cNvPr>
          <p:cNvPicPr>
            <a:picLocks noChangeAspect="1"/>
          </p:cNvPicPr>
          <p:nvPr/>
        </p:nvPicPr>
        <p:blipFill>
          <a:blip r:embed="rId5"/>
          <a:srcRect l="0" r="0" t="0" b="0"/>
          <a:stretch/>
        </p:blipFill>
        <p:spPr>
          <a:xfrm>
            <a:off x="4614333" y="3875618"/>
            <a:ext cx="279400" cy="279400"/>
          </a:xfrm>
          <a:prstGeom prst="rect">
            <a:avLst/>
          </a:prstGeom>
        </p:spPr>
      </p:pic>
      <p:sp>
        <p:nvSpPr>
          <p:cNvPr id="22" name="Text 15"/>
          <p:cNvSpPr/>
          <p:nvPr/>
        </p:nvSpPr>
        <p:spPr>
          <a:xfrm>
            <a:off x="4614333" y="4231218"/>
            <a:ext cx="30522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Risk scoring</a:t>
            </a:r>
            <a:endParaRPr lang="en-US" sz="1600" dirty="0"/>
          </a:p>
        </p:txBody>
      </p:sp>
      <p:sp>
        <p:nvSpPr>
          <p:cNvPr id="23" name="Text 16"/>
          <p:cNvSpPr/>
          <p:nvPr/>
        </p:nvSpPr>
        <p:spPr>
          <a:xfrm>
            <a:off x="4614333" y="4551232"/>
            <a:ext cx="3052233"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Per-device risk and a network score that shows what to fix first.</a:t>
            </a:r>
            <a:endParaRPr lang="en-US" sz="1200" dirty="0"/>
          </a:p>
        </p:txBody>
      </p:sp>
      <p:sp>
        <p:nvSpPr>
          <p:cNvPr id="24" name="Shape 17"/>
          <p:cNvSpPr/>
          <p:nvPr/>
        </p:nvSpPr>
        <p:spPr>
          <a:xfrm>
            <a:off x="7958667" y="3647018"/>
            <a:ext cx="3420533" cy="1559322"/>
          </a:xfrm>
          <a:prstGeom prst="roundRect">
            <a:avLst>
              <a:gd name="adj" fmla="val 6516"/>
            </a:avLst>
          </a:prstGeom>
          <a:solidFill>
            <a:srgbClr val="FBFCFB"/>
          </a:solidFill>
          <a:ln/>
        </p:spPr>
      </p:sp>
      <p:pic>
        <p:nvPicPr>
          <p:cNvPr id="25" name="Image 5" descr="Book">    </p:cNvPr>
          <p:cNvPicPr>
            <a:picLocks noChangeAspect="1"/>
          </p:cNvPicPr>
          <p:nvPr/>
        </p:nvPicPr>
        <p:blipFill>
          <a:blip r:embed="rId6"/>
          <a:srcRect l="0" r="0" t="0" b="0"/>
          <a:stretch/>
        </p:blipFill>
        <p:spPr>
          <a:xfrm>
            <a:off x="8187267" y="3875618"/>
            <a:ext cx="279400" cy="279400"/>
          </a:xfrm>
          <a:prstGeom prst="rect">
            <a:avLst/>
          </a:prstGeom>
        </p:spPr>
      </p:pic>
      <p:sp>
        <p:nvSpPr>
          <p:cNvPr id="26" name="Text 18"/>
          <p:cNvSpPr/>
          <p:nvPr/>
        </p:nvSpPr>
        <p:spPr>
          <a:xfrm>
            <a:off x="8187267" y="4231218"/>
            <a:ext cx="305223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Reports and history</a:t>
            </a:r>
            <a:endParaRPr lang="en-US" sz="1600" dirty="0"/>
          </a:p>
        </p:txBody>
      </p:sp>
      <p:sp>
        <p:nvSpPr>
          <p:cNvPr id="27" name="Text 19"/>
          <p:cNvSpPr/>
          <p:nvPr/>
        </p:nvSpPr>
        <p:spPr>
          <a:xfrm>
            <a:off x="8187267" y="4551232"/>
            <a:ext cx="3052233"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PDF, HTML, CSV and JSON reports, scan comparison and alerts.</a:t>
            </a:r>
            <a:endParaRPr lang="en-US" sz="1200" dirty="0"/>
          </a:p>
        </p:txBody>
      </p:sp>
      <p:sp>
        <p:nvSpPr>
          <p:cNvPr id="28" name="Text 20"/>
          <p:cNvSpPr/>
          <p:nvPr/>
        </p:nvSpPr>
        <p:spPr>
          <a:xfrm>
            <a:off x="812800" y="6238348"/>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NetGuard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E"/>
                </a:solidFill>
                <a:latin typeface="JetBrains Mono" pitchFamily="49" charset="0"/>
                <a:ea typeface="JetBrains Mono" pitchFamily="49" charset="-122"/>
                <a:cs typeface="JetBrains Mono" pitchFamily="49" charset="-120"/>
              </a:rPr>
              <a:t>WHAT IT CHECKS</a:t>
            </a:r>
            <a:endParaRPr lang="en-US" sz="1200" dirty="0"/>
          </a:p>
        </p:txBody>
      </p:sp>
      <p:sp>
        <p:nvSpPr>
          <p:cNvPr id="3" name="Text 1"/>
          <p:cNvSpPr/>
          <p:nvPr>
            <p:ph type="title"/>
          </p:nvPr>
        </p:nvSpPr>
        <p:spPr>
          <a:xfrm>
            <a:off x="812800" y="1127655"/>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The issues that matter at home</a:t>
            </a:r>
            <a:endParaRPr lang="en-US" sz="3600" dirty="0"/>
          </a:p>
        </p:txBody>
      </p:sp>
      <p:sp>
        <p:nvSpPr>
          <p:cNvPr id="4" name="Shape 2"/>
          <p:cNvSpPr/>
          <p:nvPr/>
        </p:nvSpPr>
        <p:spPr>
          <a:xfrm>
            <a:off x="812800" y="1935296"/>
            <a:ext cx="10566400" cy="3084777"/>
          </a:xfrm>
          <a:prstGeom prst="roundRect">
            <a:avLst>
              <a:gd name="adj" fmla="val 2470"/>
            </a:avLst>
          </a:prstGeom>
          <a:solidFill>
            <a:srgbClr val="FBFCFB"/>
          </a:solidFill>
          <a:ln/>
        </p:spPr>
      </p:sp>
      <p:sp>
        <p:nvSpPr>
          <p:cNvPr id="5" name="Shape 3"/>
          <p:cNvSpPr/>
          <p:nvPr/>
        </p:nvSpPr>
        <p:spPr>
          <a:xfrm>
            <a:off x="812800" y="1935296"/>
            <a:ext cx="10566400" cy="3084777"/>
          </a:xfrm>
          <a:custGeom>
            <a:avLst/>
            <a:gdLst/>
            <a:ahLst/>
            <a:cxnLst/>
            <a:rect l="l" t="t" r="r" b="b"/>
            <a:pathLst>
              <a:path w="10566400" h="3084777">
                <a:moveTo>
                  <a:pt x="10490200" y="0"/>
                </a:moveTo>
                <a:lnTo>
                  <a:pt x="10490200" y="0"/>
                </a:lnTo>
                <a:arcTo hR="76200" wR="76200" stAng="16200000" swAng="5400000"/>
                <a:lnTo>
                  <a:pt x="10566400" y="3008577"/>
                </a:lnTo>
                <a:arcTo hR="76200" wR="76200" stAng="0" swAng="5400000"/>
                <a:lnTo>
                  <a:pt x="76200" y="3084777"/>
                </a:lnTo>
                <a:arcTo hR="76200" wR="76200" stAng="5400000" swAng="5400000"/>
                <a:lnTo>
                  <a:pt x="0" y="3008577"/>
                </a:lnTo>
                <a:arcTo hR="69850" wR="76200" stAng="10800000" swAng="-5400000"/>
                <a:lnTo>
                  <a:pt x="10490200" y="3078427"/>
                </a:lnTo>
                <a:arcTo hR="69850" wR="69850" stAng="5400000" swAng="-5400000"/>
                <a:lnTo>
                  <a:pt x="10560050" y="76200"/>
                </a:lnTo>
                <a:arcTo hR="76200" wR="69850" stAng="0" swAng="-5400000"/>
                <a:close/>
              </a:path>
            </a:pathLst>
          </a:custGeom>
          <a:solidFill>
            <a:srgbClr val="DCE3E0"/>
          </a:solidFill>
          <a:ln/>
        </p:spPr>
      </p:sp>
      <p:sp>
        <p:nvSpPr>
          <p:cNvPr id="6" name="Shape 4"/>
          <p:cNvSpPr/>
          <p:nvPr/>
        </p:nvSpPr>
        <p:spPr>
          <a:xfrm>
            <a:off x="812800" y="1935296"/>
            <a:ext cx="10566400" cy="3084777"/>
          </a:xfrm>
          <a:custGeom>
            <a:avLst/>
            <a:gdLst/>
            <a:ahLst/>
            <a:cxnLst/>
            <a:rect l="l" t="t" r="r" b="b"/>
            <a:pathLst>
              <a:path w="10566400" h="3084777">
                <a:moveTo>
                  <a:pt x="76200" y="3084777"/>
                </a:moveTo>
                <a:lnTo>
                  <a:pt x="76200" y="3084777"/>
                </a:lnTo>
                <a:arcTo hR="76200" wR="76200" stAng="5400000" swAng="5400000"/>
                <a:lnTo>
                  <a:pt x="0" y="76200"/>
                </a:lnTo>
                <a:arcTo hR="76200" wR="76200" stAng="10800000" swAng="5400000"/>
                <a:lnTo>
                  <a:pt x="10490200" y="0"/>
                </a:lnTo>
                <a:arcTo hR="76200" wR="76200" stAng="16200000" swAng="5400000"/>
                <a:lnTo>
                  <a:pt x="10566400" y="76200"/>
                </a:lnTo>
                <a:arcTo hR="67733" wR="76200" stAng="0" swAng="-5400000"/>
                <a:lnTo>
                  <a:pt x="76200" y="8467"/>
                </a:lnTo>
                <a:arcTo hR="67733" wR="67733" stAng="16200000" swAng="-5400000"/>
                <a:lnTo>
                  <a:pt x="8467" y="3008577"/>
                </a:lnTo>
                <a:arcTo hR="76200" wR="67733"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1267" y="1943762"/>
          <a:ext cx="10549467" cy="3067844"/>
        </p:xfrm>
        <a:graphic>
          <a:graphicData uri="http://schemas.openxmlformats.org/drawingml/2006/table">
            <a:tbl>
              <a:tblPr/>
              <a:tblGrid>
                <a:gridCol w="2953851"/>
                <a:gridCol w="7595616"/>
              </a:tblGrid>
              <a:tr h="511307">
                <a:tc>
                  <a:txBody>
                    <a:bodyPr/>
                    <a:lstStyle/>
                    <a:p>
                      <a:pPr indent="0" marL="0">
                        <a:lnSpc>
                          <a:spcPts val="1960"/>
                        </a:lnSpc>
                        <a:buNone/>
                      </a:pPr>
                      <a:r>
                        <a:rPr lang="en-US" sz="1400" b="1" dirty="0">
                          <a:solidFill>
                            <a:srgbClr val="EEF1F4"/>
                          </a:solidFill>
                          <a:latin typeface="IBM Plex Sans" pitchFamily="34" charset="0"/>
                          <a:ea typeface="IBM Plex Sans" pitchFamily="34" charset="-122"/>
                          <a:cs typeface="IBM Plex Sans" pitchFamily="34" charset="-120"/>
                        </a:rPr>
                        <a:t>Area</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14171B"/>
                      </a:solidFill>
                      <a:prstDash val="solid"/>
                      <a:round/>
                      <a:headEnd type="none" w="med" len="med"/>
                      <a:tailEnd type="none" w="med" len="med"/>
                    </a:lnR>
                    <a:lnT w="0" cap="flat" cmpd="sng" algn="ctr">
                      <a:noFill/>
                    </a:lnT>
                    <a:lnB w="12700" cap="flat" cmpd="sng" algn="ctr">
                      <a:solidFill>
                        <a:srgbClr val="14171B"/>
                      </a:solidFill>
                      <a:prstDash val="solid"/>
                      <a:round/>
                      <a:headEnd type="none" w="med" len="med"/>
                      <a:tailEnd type="none" w="med" len="med"/>
                    </a:lnB>
                    <a:solidFill>
                      <a:srgbClr val="14181D"/>
                    </a:solidFill>
                  </a:tcPr>
                </a:tc>
                <a:tc>
                  <a:txBody>
                    <a:bodyPr/>
                    <a:lstStyle/>
                    <a:p>
                      <a:pPr indent="0" marL="0">
                        <a:lnSpc>
                          <a:spcPts val="1960"/>
                        </a:lnSpc>
                        <a:buNone/>
                      </a:pPr>
                      <a:r>
                        <a:rPr lang="en-US" sz="1400" b="1" dirty="0">
                          <a:solidFill>
                            <a:srgbClr val="EEF1F4"/>
                          </a:solidFill>
                          <a:latin typeface="IBM Plex Sans" pitchFamily="34" charset="0"/>
                          <a:ea typeface="IBM Plex Sans" pitchFamily="34" charset="-122"/>
                          <a:cs typeface="IBM Plex Sans" pitchFamily="34" charset="-120"/>
                        </a:rPr>
                        <a:t>Examples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4171B"/>
                      </a:solidFill>
                      <a:prstDash val="solid"/>
                      <a:round/>
                      <a:headEnd type="none" w="med" len="med"/>
                      <a:tailEnd type="none" w="med" len="med"/>
                    </a:lnL>
                    <a:lnR w="12700" cap="flat" cmpd="sng" algn="ctr">
                      <a:solidFill>
                        <a:srgbClr val="14171B"/>
                      </a:solidFill>
                      <a:prstDash val="solid"/>
                      <a:round/>
                      <a:headEnd type="none" w="med" len="med"/>
                      <a:tailEnd type="none" w="med" len="med"/>
                    </a:lnR>
                    <a:lnT w="0" cap="flat" cmpd="sng" algn="ctr">
                      <a:noFill/>
                    </a:lnT>
                    <a:lnB w="12700" cap="flat" cmpd="sng" algn="ctr">
                      <a:solidFill>
                        <a:srgbClr val="14171B"/>
                      </a:solidFill>
                      <a:prstDash val="solid"/>
                      <a:round/>
                      <a:headEnd type="none" w="med" len="med"/>
                      <a:tailEnd type="none" w="med" len="med"/>
                    </a:lnB>
                    <a:solidFill>
                      <a:srgbClr val="14181D"/>
                    </a:solidFill>
                  </a:tcPr>
                </a:tc>
              </a:tr>
              <a:tr h="511307">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Wi-Fi security</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14171B"/>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Open networks, WEP, WPA with TKIP, WPA2 instead of WPA3</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14171B"/>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511307">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Exposed services</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BEC1BF"/>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F0"/>
                    </a:solidFill>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Telnet, RDP, VNC, Android debugging, SMB, databases, Docker API</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EC1BF"/>
                      </a:solidFill>
                      <a:prstDash val="solid"/>
                      <a:round/>
                      <a:headEnd type="none" w="med" len="med"/>
                      <a:tailEnd type="none" w="med" len="med"/>
                    </a:lnL>
                    <a:lnR w="12700" cap="flat" cmpd="sng" algn="ctr">
                      <a:solidFill>
                        <a:srgbClr val="BEC1BF"/>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F0"/>
                    </a:solidFill>
                  </a:tcPr>
                </a:tc>
              </a:tr>
              <a:tr h="511307">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Weak configuration</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SMBv1, SNMP "public", anonymous FTP, UPnP on the router</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r h="511307">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Encryption</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BEC1BF"/>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F0"/>
                    </a:solidFill>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TLS 1.0 and 1.1, logins over plain HTTP, missing security headers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EC1BF"/>
                      </a:solidFill>
                      <a:prstDash val="solid"/>
                      <a:round/>
                      <a:headEnd type="none" w="med" len="med"/>
                      <a:tailEnd type="none" w="med" len="med"/>
                    </a:lnL>
                    <a:lnR w="12700" cap="flat" cmpd="sng" algn="ctr">
                      <a:solidFill>
                        <a:srgbClr val="BEC1BF"/>
                      </a:solidFill>
                      <a:prstDash val="solid"/>
                      <a:round/>
                      <a:headEnd type="none" w="med" len="med"/>
                      <a:tailEnd type="none" w="med" len="med"/>
                    </a:lnR>
                    <a:lnT w="12700" cap="flat" cmpd="sng" algn="ctr">
                      <a:solidFill>
                        <a:srgbClr val="C8C9C8"/>
                      </a:solidFill>
                      <a:prstDash val="solid"/>
                      <a:round/>
                      <a:headEnd type="none" w="med" len="med"/>
                      <a:tailEnd type="none" w="med" len="med"/>
                    </a:lnT>
                    <a:lnB w="12700" cap="flat" cmpd="sng" algn="ctr">
                      <a:solidFill>
                        <a:srgbClr val="BEC1BF"/>
                      </a:solidFill>
                      <a:prstDash val="solid"/>
                      <a:round/>
                      <a:headEnd type="none" w="med" len="med"/>
                      <a:tailEnd type="none" w="med" len="med"/>
                    </a:lnB>
                    <a:solidFill>
                      <a:srgbClr val="EEF2F0"/>
                    </a:solidFill>
                  </a:tcPr>
                </a:tc>
              </a:tr>
              <a:tr h="511307">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Outdated software</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9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c>
                  <a:txBody>
                    <a:bodyPr/>
                    <a:lstStyle/>
                    <a:p>
                      <a:pPr indent="0" marL="0">
                        <a:lnSpc>
                          <a:spcPts val="1960"/>
                        </a:lnSpc>
                        <a:buNone/>
                      </a:pPr>
                      <a:r>
                        <a:rPr lang="en-US" sz="1400" dirty="0">
                          <a:solidFill>
                            <a:srgbClr val="14181D"/>
                          </a:solidFill>
                          <a:latin typeface="IBM Plex Sans" pitchFamily="34" charset="0"/>
                          <a:ea typeface="IBM Plex Sans" pitchFamily="34" charset="-122"/>
                          <a:cs typeface="IBM Plex Sans" pitchFamily="34" charset="-120"/>
                        </a:rPr>
                        <a:t>Known-bad OpenSSH and vsftpd versions, optional NVD CVE lookup</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9C8"/>
                      </a:solidFill>
                      <a:prstDash val="solid"/>
                      <a:round/>
                      <a:headEnd type="none" w="med" len="med"/>
                      <a:tailEnd type="none" w="med" len="med"/>
                    </a:lnL>
                    <a:lnR w="12700" cap="flat" cmpd="sng" algn="ctr">
                      <a:solidFill>
                        <a:srgbClr val="C8C9C8"/>
                      </a:solidFill>
                      <a:prstDash val="solid"/>
                      <a:round/>
                      <a:headEnd type="none" w="med" len="med"/>
                      <a:tailEnd type="none" w="med" len="med"/>
                    </a:lnR>
                    <a:lnT w="12700" cap="flat" cmpd="sng" algn="ctr">
                      <a:solidFill>
                        <a:srgbClr val="BEC1BF"/>
                      </a:solidFill>
                      <a:prstDash val="solid"/>
                      <a:round/>
                      <a:headEnd type="none" w="med" len="med"/>
                      <a:tailEnd type="none" w="med" len="med"/>
                    </a:lnT>
                    <a:lnB w="12700" cap="flat" cmpd="sng" algn="ctr">
                      <a:solidFill>
                        <a:srgbClr val="C8C9C8"/>
                      </a:solidFill>
                      <a:prstDash val="solid"/>
                      <a:round/>
                      <a:headEnd type="none" w="med" len="med"/>
                      <a:tailEnd type="none" w="med" len="med"/>
                    </a:lnB>
                  </a:tcPr>
                </a:tc>
              </a:tr>
            </a:tbl>
          </a:graphicData>
        </a:graphic>
      </p:graphicFrame>
      <p:sp>
        <p:nvSpPr>
          <p:cNvPr id="8" name="Text 5"/>
          <p:cNvSpPr/>
          <p:nvPr/>
        </p:nvSpPr>
        <p:spPr>
          <a:xfrm>
            <a:off x="812800" y="532487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IBM Plex Sans" pitchFamily="34" charset="0"/>
                <a:ea typeface="IBM Plex Sans" pitchFamily="34" charset="-122"/>
                <a:cs typeface="IBM Plex Sans" pitchFamily="34" charset="-120"/>
              </a:rPr>
              <a:t>Every finding includes its evidence, a confidence level and the recommended fix.</a:t>
            </a:r>
            <a:endParaRPr lang="en-US" sz="1400" dirty="0"/>
          </a:p>
        </p:txBody>
      </p:sp>
      <p:sp>
        <p:nvSpPr>
          <p:cNvPr id="9" name="Text 6"/>
          <p:cNvSpPr/>
          <p:nvPr/>
        </p:nvSpPr>
        <p:spPr>
          <a:xfrm>
            <a:off x="812800" y="6238348"/>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NetGuard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41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FD3A2"/>
                </a:solidFill>
                <a:latin typeface="JetBrains Mono" pitchFamily="49" charset="0"/>
                <a:ea typeface="JetBrains Mono" pitchFamily="49" charset="-122"/>
                <a:cs typeface="JetBrains Mono" pitchFamily="49" charset="-120"/>
              </a:rPr>
              <a:t>CASE STUDY</a:t>
            </a:r>
            <a:endParaRPr lang="en-US" sz="1200" dirty="0"/>
          </a:p>
        </p:txBody>
      </p:sp>
      <p:sp>
        <p:nvSpPr>
          <p:cNvPr id="3" name="Text 1"/>
          <p:cNvSpPr/>
          <p:nvPr>
            <p:ph type="title"/>
          </p:nvPr>
        </p:nvSpPr>
        <p:spPr>
          <a:xfrm>
            <a:off x="812800" y="1127655"/>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4"/>
                </a:solidFill>
                <a:latin typeface="Space Grotesk" pitchFamily="34" charset="0"/>
                <a:ea typeface="Space Grotesk" pitchFamily="34" charset="-122"/>
                <a:cs typeface="Space Grotesk" pitchFamily="34" charset="-120"/>
              </a:rPr>
              <a:t>A real home network, scanned in 36 seconds</a:t>
            </a:r>
            <a:endParaRPr lang="en-US" sz="3600" dirty="0"/>
          </a:p>
        </p:txBody>
      </p:sp>
      <p:sp>
        <p:nvSpPr>
          <p:cNvPr id="4" name="Shape 2"/>
          <p:cNvSpPr/>
          <p:nvPr/>
        </p:nvSpPr>
        <p:spPr>
          <a:xfrm>
            <a:off x="815975" y="1938471"/>
            <a:ext cx="2520950" cy="1183878"/>
          </a:xfrm>
          <a:prstGeom prst="roundRect">
            <a:avLst>
              <a:gd name="adj" fmla="val 8314"/>
            </a:avLst>
          </a:prstGeom>
          <a:solidFill>
            <a:srgbClr val="1A1E23"/>
          </a:solidFill>
          <a:ln w="6350">
            <a:solidFill>
              <a:srgbClr val="2A3038"/>
            </a:solidFill>
            <a:prstDash val="solid"/>
          </a:ln>
        </p:spPr>
      </p:sp>
      <p:sp>
        <p:nvSpPr>
          <p:cNvPr id="5" name="Text 3"/>
          <p:cNvSpPr/>
          <p:nvPr/>
        </p:nvSpPr>
        <p:spPr>
          <a:xfrm>
            <a:off x="1024467" y="2146964"/>
            <a:ext cx="216708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1F4"/>
                </a:solidFill>
                <a:latin typeface="Space Grotesk" pitchFamily="34" charset="0"/>
                <a:ea typeface="Space Grotesk" pitchFamily="34" charset="-122"/>
                <a:cs typeface="Space Grotesk" pitchFamily="34" charset="-120"/>
              </a:rPr>
              <a:t>17</a:t>
            </a:r>
            <a:endParaRPr lang="en-US" sz="3600" dirty="0"/>
          </a:p>
        </p:txBody>
      </p:sp>
      <p:sp>
        <p:nvSpPr>
          <p:cNvPr id="6" name="Text 4"/>
          <p:cNvSpPr/>
          <p:nvPr/>
        </p:nvSpPr>
        <p:spPr>
          <a:xfrm>
            <a:off x="1024467" y="2700604"/>
            <a:ext cx="2167086"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devices found</a:t>
            </a:r>
            <a:endParaRPr lang="en-US" sz="1200" dirty="0"/>
          </a:p>
        </p:txBody>
      </p:sp>
      <p:sp>
        <p:nvSpPr>
          <p:cNvPr id="7" name="Shape 5"/>
          <p:cNvSpPr/>
          <p:nvPr/>
        </p:nvSpPr>
        <p:spPr>
          <a:xfrm>
            <a:off x="3495675" y="1938471"/>
            <a:ext cx="2520950" cy="1183878"/>
          </a:xfrm>
          <a:prstGeom prst="roundRect">
            <a:avLst>
              <a:gd name="adj" fmla="val 8314"/>
            </a:avLst>
          </a:prstGeom>
          <a:solidFill>
            <a:srgbClr val="1A1E23"/>
          </a:solidFill>
          <a:ln w="6350">
            <a:solidFill>
              <a:srgbClr val="2A3038"/>
            </a:solidFill>
            <a:prstDash val="solid"/>
          </a:ln>
        </p:spPr>
      </p:sp>
      <p:sp>
        <p:nvSpPr>
          <p:cNvPr id="8" name="Text 6"/>
          <p:cNvSpPr/>
          <p:nvPr/>
        </p:nvSpPr>
        <p:spPr>
          <a:xfrm>
            <a:off x="3704167" y="2146964"/>
            <a:ext cx="216708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1F4"/>
                </a:solidFill>
                <a:latin typeface="Space Grotesk" pitchFamily="34" charset="0"/>
                <a:ea typeface="Space Grotesk" pitchFamily="34" charset="-122"/>
                <a:cs typeface="Space Grotesk" pitchFamily="34" charset="-120"/>
              </a:rPr>
              <a:t>13</a:t>
            </a:r>
            <a:endParaRPr lang="en-US" sz="3600" dirty="0"/>
          </a:p>
        </p:txBody>
      </p:sp>
      <p:sp>
        <p:nvSpPr>
          <p:cNvPr id="9" name="Text 7"/>
          <p:cNvSpPr/>
          <p:nvPr/>
        </p:nvSpPr>
        <p:spPr>
          <a:xfrm>
            <a:off x="3704167" y="2700604"/>
            <a:ext cx="2167086"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open ports</a:t>
            </a:r>
            <a:endParaRPr lang="en-US" sz="1200" dirty="0"/>
          </a:p>
        </p:txBody>
      </p:sp>
      <p:sp>
        <p:nvSpPr>
          <p:cNvPr id="10" name="Shape 8"/>
          <p:cNvSpPr/>
          <p:nvPr/>
        </p:nvSpPr>
        <p:spPr>
          <a:xfrm>
            <a:off x="6175375" y="1938471"/>
            <a:ext cx="2520950" cy="1183878"/>
          </a:xfrm>
          <a:prstGeom prst="roundRect">
            <a:avLst>
              <a:gd name="adj" fmla="val 8314"/>
            </a:avLst>
          </a:prstGeom>
          <a:solidFill>
            <a:srgbClr val="1A1E23"/>
          </a:solidFill>
          <a:ln w="6350">
            <a:solidFill>
              <a:srgbClr val="2A3038"/>
            </a:solidFill>
            <a:prstDash val="solid"/>
          </a:ln>
        </p:spPr>
      </p:sp>
      <p:sp>
        <p:nvSpPr>
          <p:cNvPr id="11" name="Text 9"/>
          <p:cNvSpPr/>
          <p:nvPr/>
        </p:nvSpPr>
        <p:spPr>
          <a:xfrm>
            <a:off x="6383867" y="2146964"/>
            <a:ext cx="216708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1F4"/>
                </a:solidFill>
                <a:latin typeface="Space Grotesk" pitchFamily="34" charset="0"/>
                <a:ea typeface="Space Grotesk" pitchFamily="34" charset="-122"/>
                <a:cs typeface="Space Grotesk" pitchFamily="34" charset="-120"/>
              </a:rPr>
              <a:t>8</a:t>
            </a:r>
            <a:endParaRPr lang="en-US" sz="3600" dirty="0"/>
          </a:p>
        </p:txBody>
      </p:sp>
      <p:sp>
        <p:nvSpPr>
          <p:cNvPr id="12" name="Text 10"/>
          <p:cNvSpPr/>
          <p:nvPr/>
        </p:nvSpPr>
        <p:spPr>
          <a:xfrm>
            <a:off x="6383867" y="2700604"/>
            <a:ext cx="2167086"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findings to fix</a:t>
            </a:r>
            <a:endParaRPr lang="en-US" sz="1200" dirty="0"/>
          </a:p>
        </p:txBody>
      </p:sp>
      <p:sp>
        <p:nvSpPr>
          <p:cNvPr id="13" name="Shape 11"/>
          <p:cNvSpPr/>
          <p:nvPr/>
        </p:nvSpPr>
        <p:spPr>
          <a:xfrm>
            <a:off x="8855075" y="1938471"/>
            <a:ext cx="2520950" cy="1183878"/>
          </a:xfrm>
          <a:prstGeom prst="roundRect">
            <a:avLst>
              <a:gd name="adj" fmla="val 8314"/>
            </a:avLst>
          </a:prstGeom>
          <a:solidFill>
            <a:srgbClr val="1A1E23"/>
          </a:solidFill>
          <a:ln w="6350">
            <a:solidFill>
              <a:srgbClr val="2A3038"/>
            </a:solidFill>
            <a:prstDash val="solid"/>
          </a:ln>
        </p:spPr>
      </p:sp>
      <p:sp>
        <p:nvSpPr>
          <p:cNvPr id="14" name="Text 12"/>
          <p:cNvSpPr/>
          <p:nvPr/>
        </p:nvSpPr>
        <p:spPr>
          <a:xfrm>
            <a:off x="9063567" y="2146964"/>
            <a:ext cx="2167086"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9C440"/>
                </a:solidFill>
                <a:latin typeface="Space Grotesk" pitchFamily="34" charset="0"/>
                <a:ea typeface="Space Grotesk" pitchFamily="34" charset="-122"/>
                <a:cs typeface="Space Grotesk" pitchFamily="34" charset="-120"/>
              </a:rPr>
              <a:t>54</a:t>
            </a:r>
            <a:r>
              <a:rPr lang="en-US" sz="3600" b="1" dirty="0">
                <a:solidFill>
                  <a:srgbClr val="9AA4AF"/>
                </a:solidFill>
                <a:latin typeface="Space Grotesk" pitchFamily="34" charset="0"/>
                <a:ea typeface="Space Grotesk" pitchFamily="34" charset="-122"/>
                <a:cs typeface="Space Grotesk" pitchFamily="34" charset="-120"/>
              </a:rPr>
              <a:t>/100</a:t>
            </a:r>
            <a:endParaRPr lang="en-US" sz="3600" dirty="0"/>
          </a:p>
        </p:txBody>
      </p:sp>
      <p:sp>
        <p:nvSpPr>
          <p:cNvPr id="15" name="Text 13"/>
          <p:cNvSpPr/>
          <p:nvPr/>
        </p:nvSpPr>
        <p:spPr>
          <a:xfrm>
            <a:off x="9063567" y="2700604"/>
            <a:ext cx="2167086"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score: fair, needs attention</a:t>
            </a:r>
            <a:endParaRPr lang="en-US" sz="1200" dirty="0"/>
          </a:p>
        </p:txBody>
      </p:sp>
      <p:sp>
        <p:nvSpPr>
          <p:cNvPr id="16" name="Shape 14"/>
          <p:cNvSpPr/>
          <p:nvPr/>
        </p:nvSpPr>
        <p:spPr>
          <a:xfrm>
            <a:off x="812800" y="3430324"/>
            <a:ext cx="10566400" cy="538427"/>
          </a:xfrm>
          <a:prstGeom prst="roundRect">
            <a:avLst>
              <a:gd name="adj" fmla="val 14152"/>
            </a:avLst>
          </a:prstGeom>
          <a:solidFill>
            <a:srgbClr val="1A1E23"/>
          </a:solidFill>
          <a:ln/>
        </p:spPr>
      </p:sp>
      <p:sp>
        <p:nvSpPr>
          <p:cNvPr id="17" name="Text 15"/>
          <p:cNvSpPr/>
          <p:nvPr/>
        </p:nvSpPr>
        <p:spPr>
          <a:xfrm>
            <a:off x="990600" y="3567509"/>
            <a:ext cx="543586" cy="264054"/>
          </a:xfrm>
          <a:prstGeom prst="roundRect">
            <a:avLst>
              <a:gd name="adj" fmla="val 14429"/>
            </a:avLst>
          </a:prstGeom>
          <a:solidFill>
            <a:srgbClr val="F0524F"/>
          </a:solidFill>
          <a:ln/>
        </p:spPr>
        <p:txBody>
          <a:bodyPr wrap="none" lIns="0" tIns="0" rIns="0" bIns="0" rtlCol="0" anchor="ctr">
            <a:normAutofit/>
          </a:bodyPr>
          <a:lstStyle/>
          <a:p>
            <a:pPr algn="ctr" indent="0" marL="0">
              <a:lnSpc>
                <a:spcPts val="1680"/>
              </a:lnSpc>
              <a:buNone/>
            </a:pPr>
            <a:r>
              <a:rPr lang="en-US" sz="1200" dirty="0">
                <a:solidFill>
                  <a:srgbClr val="111418"/>
                </a:solidFill>
                <a:latin typeface="JetBrains Mono" pitchFamily="49" charset="0"/>
                <a:ea typeface="JetBrains Mono" pitchFamily="49" charset="-122"/>
                <a:cs typeface="JetBrains Mono" pitchFamily="49" charset="-120"/>
              </a:rPr>
              <a:t>HIGH</a:t>
            </a:r>
            <a:endParaRPr lang="en-US" sz="1200" dirty="0"/>
          </a:p>
        </p:txBody>
      </p:sp>
      <p:sp>
        <p:nvSpPr>
          <p:cNvPr id="18" name="Text 16"/>
          <p:cNvSpPr/>
          <p:nvPr/>
        </p:nvSpPr>
        <p:spPr>
          <a:xfrm>
            <a:off x="1686587" y="3557324"/>
            <a:ext cx="300386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4"/>
                </a:solidFill>
                <a:latin typeface="IBM Plex Sans" pitchFamily="34" charset="0"/>
                <a:ea typeface="IBM Plex Sans" pitchFamily="34" charset="-122"/>
                <a:cs typeface="IBM Plex Sans" pitchFamily="34" charset="-120"/>
              </a:rPr>
              <a:t>Telnet is open on the router</a:t>
            </a:r>
            <a:endParaRPr lang="en-US" sz="1600" dirty="0"/>
          </a:p>
        </p:txBody>
      </p:sp>
      <p:sp>
        <p:nvSpPr>
          <p:cNvPr id="19" name="Shape 17"/>
          <p:cNvSpPr/>
          <p:nvPr/>
        </p:nvSpPr>
        <p:spPr>
          <a:xfrm>
            <a:off x="812800" y="4070350"/>
            <a:ext cx="10566400" cy="538427"/>
          </a:xfrm>
          <a:prstGeom prst="roundRect">
            <a:avLst>
              <a:gd name="adj" fmla="val 14152"/>
            </a:avLst>
          </a:prstGeom>
          <a:solidFill>
            <a:srgbClr val="1A1E23"/>
          </a:solidFill>
          <a:ln/>
        </p:spPr>
      </p:sp>
      <p:sp>
        <p:nvSpPr>
          <p:cNvPr id="20" name="Text 18"/>
          <p:cNvSpPr/>
          <p:nvPr/>
        </p:nvSpPr>
        <p:spPr>
          <a:xfrm>
            <a:off x="990600" y="4207539"/>
            <a:ext cx="726546" cy="264054"/>
          </a:xfrm>
          <a:prstGeom prst="roundRect">
            <a:avLst>
              <a:gd name="adj" fmla="val 14429"/>
            </a:avLst>
          </a:prstGeom>
          <a:solidFill>
            <a:srgbClr val="E9C440"/>
          </a:solidFill>
          <a:ln/>
        </p:spPr>
        <p:txBody>
          <a:bodyPr wrap="none" lIns="0" tIns="0" rIns="0" bIns="0" rtlCol="0" anchor="ctr">
            <a:normAutofit/>
          </a:bodyPr>
          <a:lstStyle/>
          <a:p>
            <a:pPr algn="ctr" indent="0" marL="0">
              <a:lnSpc>
                <a:spcPts val="1680"/>
              </a:lnSpc>
              <a:buNone/>
            </a:pPr>
            <a:r>
              <a:rPr lang="en-US" sz="1200" dirty="0">
                <a:solidFill>
                  <a:srgbClr val="111418"/>
                </a:solidFill>
                <a:latin typeface="JetBrains Mono" pitchFamily="49" charset="0"/>
                <a:ea typeface="JetBrains Mono" pitchFamily="49" charset="-122"/>
                <a:cs typeface="JetBrains Mono" pitchFamily="49" charset="-120"/>
              </a:rPr>
              <a:t>MEDIUM</a:t>
            </a:r>
            <a:endParaRPr lang="en-US" sz="1200" dirty="0"/>
          </a:p>
        </p:txBody>
      </p:sp>
      <p:sp>
        <p:nvSpPr>
          <p:cNvPr id="21" name="Text 19"/>
          <p:cNvSpPr/>
          <p:nvPr/>
        </p:nvSpPr>
        <p:spPr>
          <a:xfrm>
            <a:off x="1869546" y="4197350"/>
            <a:ext cx="512730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4"/>
                </a:solidFill>
                <a:latin typeface="IBM Plex Sans" pitchFamily="34" charset="0"/>
                <a:ea typeface="IBM Plex Sans" pitchFamily="34" charset="-122"/>
                <a:cs typeface="IBM Plex Sans" pitchFamily="34" charset="-120"/>
              </a:rPr>
              <a:t>UPnP lets any device open ports to the internet</a:t>
            </a:r>
            <a:endParaRPr lang="en-US" sz="1600" dirty="0"/>
          </a:p>
        </p:txBody>
      </p:sp>
      <p:sp>
        <p:nvSpPr>
          <p:cNvPr id="22" name="Shape 20"/>
          <p:cNvSpPr/>
          <p:nvPr/>
        </p:nvSpPr>
        <p:spPr>
          <a:xfrm>
            <a:off x="812800" y="4710379"/>
            <a:ext cx="10566400" cy="538427"/>
          </a:xfrm>
          <a:prstGeom prst="roundRect">
            <a:avLst>
              <a:gd name="adj" fmla="val 14152"/>
            </a:avLst>
          </a:prstGeom>
          <a:solidFill>
            <a:srgbClr val="1A1E23"/>
          </a:solidFill>
          <a:ln/>
        </p:spPr>
      </p:sp>
      <p:sp>
        <p:nvSpPr>
          <p:cNvPr id="23" name="Text 21"/>
          <p:cNvSpPr/>
          <p:nvPr/>
        </p:nvSpPr>
        <p:spPr>
          <a:xfrm>
            <a:off x="990600" y="4847565"/>
            <a:ext cx="726546" cy="264054"/>
          </a:xfrm>
          <a:prstGeom prst="roundRect">
            <a:avLst>
              <a:gd name="adj" fmla="val 14429"/>
            </a:avLst>
          </a:prstGeom>
          <a:solidFill>
            <a:srgbClr val="E9C440"/>
          </a:solidFill>
          <a:ln/>
        </p:spPr>
        <p:txBody>
          <a:bodyPr wrap="none" lIns="0" tIns="0" rIns="0" bIns="0" rtlCol="0" anchor="ctr">
            <a:normAutofit/>
          </a:bodyPr>
          <a:lstStyle/>
          <a:p>
            <a:pPr algn="ctr" indent="0" marL="0">
              <a:lnSpc>
                <a:spcPts val="1680"/>
              </a:lnSpc>
              <a:buNone/>
            </a:pPr>
            <a:r>
              <a:rPr lang="en-US" sz="1200" dirty="0">
                <a:solidFill>
                  <a:srgbClr val="111418"/>
                </a:solidFill>
                <a:latin typeface="JetBrains Mono" pitchFamily="49" charset="0"/>
                <a:ea typeface="JetBrains Mono" pitchFamily="49" charset="-122"/>
                <a:cs typeface="JetBrains Mono" pitchFamily="49" charset="-120"/>
              </a:rPr>
              <a:t>MEDIUM</a:t>
            </a:r>
            <a:endParaRPr lang="en-US" sz="1200" dirty="0"/>
          </a:p>
        </p:txBody>
      </p:sp>
      <p:sp>
        <p:nvSpPr>
          <p:cNvPr id="24" name="Text 22"/>
          <p:cNvSpPr/>
          <p:nvPr/>
        </p:nvSpPr>
        <p:spPr>
          <a:xfrm>
            <a:off x="1869546" y="4837379"/>
            <a:ext cx="5597208"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EF1F4"/>
                </a:solidFill>
                <a:latin typeface="IBM Plex Sans" pitchFamily="34" charset="0"/>
                <a:ea typeface="IBM Plex Sans" pitchFamily="34" charset="-122"/>
                <a:cs typeface="IBM Plex Sans" pitchFamily="34" charset="-120"/>
              </a:rPr>
              <a:t>Windows file sharing is reachable on a shared Wi-Fi</a:t>
            </a:r>
            <a:endParaRPr lang="en-US" sz="1600" dirty="0"/>
          </a:p>
        </p:txBody>
      </p:sp>
      <p:sp>
        <p:nvSpPr>
          <p:cNvPr id="25" name="Text 23"/>
          <p:cNvSpPr/>
          <p:nvPr/>
        </p:nvSpPr>
        <p:spPr>
          <a:xfrm>
            <a:off x="812800" y="6238348"/>
            <a:ext cx="91567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NetGuard · 07 · Quick scan of the developer's own network, October 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D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E"/>
                </a:solidFill>
                <a:latin typeface="JetBrains Mono" pitchFamily="49" charset="0"/>
                <a:ea typeface="JetBrains Mono" pitchFamily="49" charset="-122"/>
                <a:cs typeface="JetBrains Mono" pitchFamily="49" charset="-120"/>
              </a:rPr>
              <a:t>THE DASHBOARD</a:t>
            </a:r>
            <a:endParaRPr lang="en-US" sz="1200" dirty="0"/>
          </a:p>
        </p:txBody>
      </p:sp>
      <p:sp>
        <p:nvSpPr>
          <p:cNvPr id="3" name="Text 1"/>
          <p:cNvSpPr/>
          <p:nvPr>
            <p:ph type="title"/>
          </p:nvPr>
        </p:nvSpPr>
        <p:spPr>
          <a:xfrm>
            <a:off x="812800" y="1127655"/>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One screen shows what matters</a:t>
            </a:r>
            <a:endParaRPr lang="en-US" sz="3600" dirty="0"/>
          </a:p>
        </p:txBody>
      </p:sp>
      <p:sp>
        <p:nvSpPr>
          <p:cNvPr id="4" name="Shape 2"/>
          <p:cNvSpPr/>
          <p:nvPr/>
        </p:nvSpPr>
        <p:spPr>
          <a:xfrm>
            <a:off x="812800" y="1935296"/>
            <a:ext cx="4953000" cy="2971535"/>
          </a:xfrm>
          <a:prstGeom prst="roundRect">
            <a:avLst>
              <a:gd name="adj" fmla="val 4274"/>
            </a:avLst>
          </a:prstGeom>
          <a:solidFill>
            <a:srgbClr val="111418"/>
          </a:solidFill>
          <a:ln/>
        </p:spPr>
      </p:sp>
      <p:pic>
        <p:nvPicPr>
          <p:cNvPr id="5" name="Image 0" descr="Score ring, 54 percent filled in yellow">    </p:cNvPr>
          <p:cNvPicPr>
            <a:picLocks noChangeAspect="1"/>
          </p:cNvPicPr>
          <p:nvPr/>
        </p:nvPicPr>
        <p:blipFill>
          <a:blip r:embed="rId1"/>
          <a:srcRect l="0" r="0" t="0" b="0"/>
          <a:stretch/>
        </p:blipFill>
        <p:spPr>
          <a:xfrm>
            <a:off x="1092200" y="2214696"/>
            <a:ext cx="1270000" cy="1270000"/>
          </a:xfrm>
          <a:prstGeom prst="rect">
            <a:avLst/>
          </a:prstGeom>
        </p:spPr>
      </p:pic>
      <p:sp>
        <p:nvSpPr>
          <p:cNvPr id="6" name="Text 3"/>
          <p:cNvSpPr/>
          <p:nvPr/>
        </p:nvSpPr>
        <p:spPr>
          <a:xfrm>
            <a:off x="2590800" y="2340505"/>
            <a:ext cx="1739371"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Security score</a:t>
            </a:r>
            <a:endParaRPr lang="en-US" sz="1200" dirty="0"/>
          </a:p>
        </p:txBody>
      </p:sp>
      <p:sp>
        <p:nvSpPr>
          <p:cNvPr id="7" name="Text 4"/>
          <p:cNvSpPr/>
          <p:nvPr/>
        </p:nvSpPr>
        <p:spPr>
          <a:xfrm>
            <a:off x="2590800" y="2591860"/>
            <a:ext cx="1739371" cy="505354"/>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EEF1F4"/>
                </a:solidFill>
                <a:latin typeface="Space Grotesk" pitchFamily="34" charset="0"/>
                <a:ea typeface="Space Grotesk" pitchFamily="34" charset="-122"/>
                <a:cs typeface="Space Grotesk" pitchFamily="34" charset="-120"/>
              </a:rPr>
              <a:t>54</a:t>
            </a:r>
            <a:endParaRPr lang="en-US" sz="3600" dirty="0"/>
          </a:p>
        </p:txBody>
      </p:sp>
      <p:sp>
        <p:nvSpPr>
          <p:cNvPr id="8" name="Text 5"/>
          <p:cNvSpPr/>
          <p:nvPr/>
        </p:nvSpPr>
        <p:spPr>
          <a:xfrm>
            <a:off x="2590800" y="3109913"/>
            <a:ext cx="202628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1F4"/>
                </a:solidFill>
                <a:latin typeface="IBM Plex Sans" pitchFamily="34" charset="0"/>
                <a:ea typeface="IBM Plex Sans" pitchFamily="34" charset="-122"/>
                <a:cs typeface="IBM Plex Sans" pitchFamily="34" charset="-120"/>
              </a:rPr>
              <a:t>Fair, needs attention</a:t>
            </a:r>
            <a:endParaRPr lang="en-US" sz="1400" dirty="0"/>
          </a:p>
        </p:txBody>
      </p:sp>
      <p:sp>
        <p:nvSpPr>
          <p:cNvPr id="9" name="Shape 6"/>
          <p:cNvSpPr/>
          <p:nvPr/>
        </p:nvSpPr>
        <p:spPr>
          <a:xfrm>
            <a:off x="1092200" y="3662496"/>
            <a:ext cx="1397000" cy="964935"/>
          </a:xfrm>
          <a:prstGeom prst="roundRect">
            <a:avLst>
              <a:gd name="adj" fmla="val 7897"/>
            </a:avLst>
          </a:prstGeom>
          <a:solidFill>
            <a:srgbClr val="1A1E23"/>
          </a:solidFill>
          <a:ln/>
        </p:spPr>
      </p:sp>
      <p:sp>
        <p:nvSpPr>
          <p:cNvPr id="10" name="Text 7"/>
          <p:cNvSpPr/>
          <p:nvPr/>
        </p:nvSpPr>
        <p:spPr>
          <a:xfrm>
            <a:off x="1244600" y="3789496"/>
            <a:ext cx="11430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Devices</a:t>
            </a:r>
            <a:endParaRPr lang="en-US" sz="1200" dirty="0"/>
          </a:p>
        </p:txBody>
      </p:sp>
      <p:sp>
        <p:nvSpPr>
          <p:cNvPr id="11" name="Text 8"/>
          <p:cNvSpPr/>
          <p:nvPr/>
        </p:nvSpPr>
        <p:spPr>
          <a:xfrm>
            <a:off x="1244600" y="4002751"/>
            <a:ext cx="11430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4"/>
                </a:solidFill>
                <a:latin typeface="IBM Plex Sans" pitchFamily="34" charset="0"/>
                <a:ea typeface="IBM Plex Sans" pitchFamily="34" charset="-122"/>
                <a:cs typeface="IBM Plex Sans" pitchFamily="34" charset="-120"/>
              </a:rPr>
              <a:t>17</a:t>
            </a:r>
            <a:endParaRPr lang="en-US" sz="1600" dirty="0"/>
          </a:p>
        </p:txBody>
      </p:sp>
      <p:sp>
        <p:nvSpPr>
          <p:cNvPr id="12" name="Text 9"/>
          <p:cNvSpPr/>
          <p:nvPr/>
        </p:nvSpPr>
        <p:spPr>
          <a:xfrm>
            <a:off x="1244600" y="4287180"/>
            <a:ext cx="11430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8C38"/>
                </a:solidFill>
                <a:latin typeface="IBM Plex Sans" pitchFamily="34" charset="0"/>
                <a:ea typeface="IBM Plex Sans" pitchFamily="34" charset="-122"/>
                <a:cs typeface="IBM Plex Sans" pitchFamily="34" charset="-120"/>
              </a:rPr>
              <a:t>2 new</a:t>
            </a:r>
            <a:endParaRPr lang="en-US" sz="1200" dirty="0"/>
          </a:p>
        </p:txBody>
      </p:sp>
      <p:sp>
        <p:nvSpPr>
          <p:cNvPr id="13" name="Shape 10"/>
          <p:cNvSpPr/>
          <p:nvPr/>
        </p:nvSpPr>
        <p:spPr>
          <a:xfrm>
            <a:off x="2590800" y="3662496"/>
            <a:ext cx="1397000" cy="964935"/>
          </a:xfrm>
          <a:prstGeom prst="roundRect">
            <a:avLst>
              <a:gd name="adj" fmla="val 7897"/>
            </a:avLst>
          </a:prstGeom>
          <a:solidFill>
            <a:srgbClr val="1A1E23"/>
          </a:solidFill>
          <a:ln/>
        </p:spPr>
      </p:sp>
      <p:sp>
        <p:nvSpPr>
          <p:cNvPr id="14" name="Text 11"/>
          <p:cNvSpPr/>
          <p:nvPr/>
        </p:nvSpPr>
        <p:spPr>
          <a:xfrm>
            <a:off x="2743200" y="3789496"/>
            <a:ext cx="11430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Open ports</a:t>
            </a:r>
            <a:endParaRPr lang="en-US" sz="1200" dirty="0"/>
          </a:p>
        </p:txBody>
      </p:sp>
      <p:sp>
        <p:nvSpPr>
          <p:cNvPr id="15" name="Text 12"/>
          <p:cNvSpPr/>
          <p:nvPr/>
        </p:nvSpPr>
        <p:spPr>
          <a:xfrm>
            <a:off x="2743200" y="4002751"/>
            <a:ext cx="11430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4"/>
                </a:solidFill>
                <a:latin typeface="IBM Plex Sans" pitchFamily="34" charset="0"/>
                <a:ea typeface="IBM Plex Sans" pitchFamily="34" charset="-122"/>
                <a:cs typeface="IBM Plex Sans" pitchFamily="34" charset="-120"/>
              </a:rPr>
              <a:t>13</a:t>
            </a:r>
            <a:endParaRPr lang="en-US" sz="1600" dirty="0"/>
          </a:p>
        </p:txBody>
      </p:sp>
      <p:sp>
        <p:nvSpPr>
          <p:cNvPr id="16" name="Text 13"/>
          <p:cNvSpPr/>
          <p:nvPr/>
        </p:nvSpPr>
        <p:spPr>
          <a:xfrm>
            <a:off x="2743200" y="4287180"/>
            <a:ext cx="11430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8C38"/>
                </a:solidFill>
                <a:latin typeface="IBM Plex Sans" pitchFamily="34" charset="0"/>
                <a:ea typeface="IBM Plex Sans" pitchFamily="34" charset="-122"/>
                <a:cs typeface="IBM Plex Sans" pitchFamily="34" charset="-120"/>
              </a:rPr>
              <a:t>2 opened</a:t>
            </a:r>
            <a:endParaRPr lang="en-US" sz="1200" dirty="0"/>
          </a:p>
        </p:txBody>
      </p:sp>
      <p:sp>
        <p:nvSpPr>
          <p:cNvPr id="17" name="Shape 14"/>
          <p:cNvSpPr/>
          <p:nvPr/>
        </p:nvSpPr>
        <p:spPr>
          <a:xfrm>
            <a:off x="4089400" y="3662496"/>
            <a:ext cx="1397000" cy="964935"/>
          </a:xfrm>
          <a:prstGeom prst="roundRect">
            <a:avLst>
              <a:gd name="adj" fmla="val 7897"/>
            </a:avLst>
          </a:prstGeom>
          <a:solidFill>
            <a:srgbClr val="1A1E23"/>
          </a:solidFill>
          <a:ln/>
        </p:spPr>
      </p:sp>
      <p:sp>
        <p:nvSpPr>
          <p:cNvPr id="18" name="Text 15"/>
          <p:cNvSpPr/>
          <p:nvPr/>
        </p:nvSpPr>
        <p:spPr>
          <a:xfrm>
            <a:off x="4241800" y="3789496"/>
            <a:ext cx="11430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Score</a:t>
            </a:r>
            <a:endParaRPr lang="en-US" sz="1200" dirty="0"/>
          </a:p>
        </p:txBody>
      </p:sp>
      <p:sp>
        <p:nvSpPr>
          <p:cNvPr id="19" name="Text 16"/>
          <p:cNvSpPr/>
          <p:nvPr/>
        </p:nvSpPr>
        <p:spPr>
          <a:xfrm>
            <a:off x="4241800" y="4002751"/>
            <a:ext cx="11430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4"/>
                </a:solidFill>
                <a:latin typeface="IBM Plex Sans" pitchFamily="34" charset="0"/>
                <a:ea typeface="IBM Plex Sans" pitchFamily="34" charset="-122"/>
                <a:cs typeface="IBM Plex Sans" pitchFamily="34" charset="-120"/>
              </a:rPr>
              <a:t>+7</a:t>
            </a:r>
            <a:endParaRPr lang="en-US" sz="1600" dirty="0"/>
          </a:p>
        </p:txBody>
      </p:sp>
      <p:sp>
        <p:nvSpPr>
          <p:cNvPr id="20" name="Text 17"/>
          <p:cNvSpPr/>
          <p:nvPr/>
        </p:nvSpPr>
        <p:spPr>
          <a:xfrm>
            <a:off x="4241800" y="4287180"/>
            <a:ext cx="11430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D3A2"/>
                </a:solidFill>
                <a:latin typeface="IBM Plex Sans" pitchFamily="34" charset="0"/>
                <a:ea typeface="IBM Plex Sans" pitchFamily="34" charset="-122"/>
                <a:cs typeface="IBM Plex Sans" pitchFamily="34" charset="-120"/>
              </a:rPr>
              <a:t>since last scan</a:t>
            </a:r>
            <a:endParaRPr lang="en-US" sz="1200" dirty="0"/>
          </a:p>
        </p:txBody>
      </p:sp>
      <p:sp>
        <p:nvSpPr>
          <p:cNvPr id="21" name="Text 18"/>
          <p:cNvSpPr/>
          <p:nvPr/>
        </p:nvSpPr>
        <p:spPr>
          <a:xfrm>
            <a:off x="6179058" y="2537222"/>
            <a:ext cx="5350256" cy="1793081"/>
          </a:xfrm>
          <a:prstGeom prst="rect">
            <a:avLst/>
          </a:prstGeom>
          <a:noFill/>
          <a:ln/>
        </p:spPr>
        <p:txBody>
          <a:bodyPr wrap="square" lIns="0" tIns="0" rIns="0" bIns="0" rtlCol="0" anchor="t">
            <a:normAutofit/>
          </a:bodyPr>
          <a:lstStyle/>
          <a:p>
            <a:pPr algn="l" marL="196342" indent="-196342">
              <a:lnSpc>
                <a:spcPts val="2320"/>
              </a:lnSpc>
              <a:buSzPct val="100000"/>
              <a:buChar char="•"/>
            </a:pPr>
            <a:r>
              <a:rPr lang="en-US" sz="1600" dirty="0">
                <a:solidFill>
                  <a:srgbClr val="14181D"/>
                </a:solidFill>
                <a:latin typeface="IBM Plex Sans" pitchFamily="34" charset="0"/>
                <a:ea typeface="IBM Plex Sans" pitchFamily="34" charset="-122"/>
                <a:cs typeface="IBM Plex Sans" pitchFamily="34" charset="-120"/>
              </a:rPr>
              <a:t>A security score with a plain-English verdict</a:t>
            </a:r>
            <a:endParaRPr lang="en-US" sz="1600" dirty="0"/>
          </a:p>
          <a:p>
            <a:pPr algn="l" marL="196342" indent="-196342">
              <a:lnSpc>
                <a:spcPts val="2320"/>
              </a:lnSpc>
              <a:buSzPct val="100000"/>
              <a:buChar char="•"/>
            </a:pPr>
            <a:r>
              <a:rPr lang="en-US" sz="1600" dirty="0">
                <a:solidFill>
                  <a:srgbClr val="14181D"/>
                </a:solidFill>
                <a:latin typeface="IBM Plex Sans" pitchFamily="34" charset="0"/>
                <a:ea typeface="IBM Plex Sans" pitchFamily="34" charset="-122"/>
                <a:cs typeface="IBM Plex Sans" pitchFamily="34" charset="-120"/>
              </a:rPr>
              <a:t>What changed since the last scan</a:t>
            </a:r>
            <a:endParaRPr lang="en-US" sz="1600" dirty="0"/>
          </a:p>
          <a:p>
            <a:pPr algn="l" marL="196342" indent="-196342">
              <a:lnSpc>
                <a:spcPts val="2320"/>
              </a:lnSpc>
              <a:buSzPct val="100000"/>
              <a:buChar char="•"/>
            </a:pPr>
            <a:r>
              <a:rPr lang="en-US" sz="1600" dirty="0">
                <a:solidFill>
                  <a:srgbClr val="14181D"/>
                </a:solidFill>
                <a:latin typeface="IBM Plex Sans" pitchFamily="34" charset="0"/>
                <a:ea typeface="IBM Plex Sans" pitchFamily="34" charset="-122"/>
                <a:cs typeface="IBM Plex Sans" pitchFamily="34" charset="-120"/>
              </a:rPr>
              <a:t>A network map coloured by risk</a:t>
            </a:r>
            <a:endParaRPr lang="en-US" sz="1600" dirty="0"/>
          </a:p>
          <a:p>
            <a:pPr algn="l" marL="196342" indent="-196342">
              <a:lnSpc>
                <a:spcPts val="2320"/>
              </a:lnSpc>
              <a:buSzPct val="100000"/>
              <a:buChar char="•"/>
            </a:pPr>
            <a:r>
              <a:rPr lang="en-US" sz="1600" dirty="0">
                <a:solidFill>
                  <a:srgbClr val="14181D"/>
                </a:solidFill>
                <a:latin typeface="IBM Plex Sans" pitchFamily="34" charset="0"/>
                <a:ea typeface="IBM Plex Sans" pitchFamily="34" charset="-122"/>
                <a:cs typeface="IBM Plex Sans" pitchFamily="34" charset="-120"/>
              </a:rPr>
              <a:t>Top findings with the fix for each</a:t>
            </a:r>
            <a:endParaRPr lang="en-US" sz="1600" dirty="0"/>
          </a:p>
          <a:p>
            <a:pPr algn="l" marL="196342" indent="-196342">
              <a:lnSpc>
                <a:spcPts val="2320"/>
              </a:lnSpc>
              <a:buSzPct val="100000"/>
              <a:buChar char="•"/>
            </a:pPr>
            <a:r>
              <a:rPr lang="en-US" sz="1600" dirty="0">
                <a:solidFill>
                  <a:srgbClr val="14181D"/>
                </a:solidFill>
                <a:latin typeface="IBM Plex Sans" pitchFamily="34" charset="0"/>
                <a:ea typeface="IBM Plex Sans" pitchFamily="34" charset="-122"/>
                <a:cs typeface="IBM Plex Sans" pitchFamily="34" charset="-120"/>
              </a:rPr>
              <a:t>Score trend and recent alerts</a:t>
            </a:r>
            <a:endParaRPr lang="en-US" sz="1600" dirty="0"/>
          </a:p>
          <a:p>
            <a:pPr algn="l" marL="196342" indent="-196342">
              <a:lnSpc>
                <a:spcPts val="2320"/>
              </a:lnSpc>
              <a:buSzPct val="100000"/>
              <a:buChar char="•"/>
            </a:pPr>
            <a:r>
              <a:rPr lang="en-US" sz="1600" dirty="0">
                <a:solidFill>
                  <a:srgbClr val="14181D"/>
                </a:solidFill>
                <a:latin typeface="IBM Plex Sans" pitchFamily="34" charset="0"/>
                <a:ea typeface="IBM Plex Sans" pitchFamily="34" charset="-122"/>
                <a:cs typeface="IBM Plex Sans" pitchFamily="34" charset="-120"/>
              </a:rPr>
              <a:t>Runs in its own window or a browser</a:t>
            </a:r>
            <a:endParaRPr lang="en-US" sz="1600" dirty="0"/>
          </a:p>
        </p:txBody>
      </p:sp>
      <p:sp>
        <p:nvSpPr>
          <p:cNvPr id="22" name="Text 19"/>
          <p:cNvSpPr/>
          <p:nvPr/>
        </p:nvSpPr>
        <p:spPr>
          <a:xfrm>
            <a:off x="812800" y="6238348"/>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NetGuard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E"/>
                </a:solidFill>
                <a:latin typeface="JetBrains Mono" pitchFamily="49" charset="0"/>
                <a:ea typeface="JetBrains Mono" pitchFamily="49" charset="-122"/>
                <a:cs typeface="JetBrains Mono" pitchFamily="49" charset="-120"/>
              </a:rPr>
              <a:t>SECURITY BY DESIGN</a:t>
            </a:r>
            <a:endParaRPr lang="en-US" sz="1200" dirty="0"/>
          </a:p>
        </p:txBody>
      </p:sp>
      <p:sp>
        <p:nvSpPr>
          <p:cNvPr id="3" name="Text 1"/>
          <p:cNvSpPr/>
          <p:nvPr>
            <p:ph type="title"/>
          </p:nvPr>
        </p:nvSpPr>
        <p:spPr>
          <a:xfrm>
            <a:off x="812800" y="1127658"/>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Built to be trusted on your network</a:t>
            </a:r>
            <a:endParaRPr lang="en-US" sz="3600" dirty="0"/>
          </a:p>
        </p:txBody>
      </p:sp>
      <p:sp>
        <p:nvSpPr>
          <p:cNvPr id="4" name="Shape 2"/>
          <p:cNvSpPr/>
          <p:nvPr/>
        </p:nvSpPr>
        <p:spPr>
          <a:xfrm>
            <a:off x="815975" y="1938474"/>
            <a:ext cx="3414183" cy="1569905"/>
          </a:xfrm>
          <a:prstGeom prst="roundRect">
            <a:avLst>
              <a:gd name="adj" fmla="val 6269"/>
            </a:avLst>
          </a:prstGeom>
          <a:solidFill>
            <a:srgbClr val="FBFCFB"/>
          </a:solidFill>
          <a:ln w="6350">
            <a:solidFill>
              <a:srgbClr val="DCE3E0"/>
            </a:solidFill>
            <a:prstDash val="solid"/>
          </a:ln>
        </p:spPr>
      </p:sp>
      <p:pic>
        <p:nvPicPr>
          <p:cNvPr id="5" name="Image 0" descr="Verified">    </p:cNvPr>
          <p:cNvPicPr>
            <a:picLocks noChangeAspect="1"/>
          </p:cNvPicPr>
          <p:nvPr/>
        </p:nvPicPr>
        <p:blipFill>
          <a:blip r:embed="rId1"/>
          <a:srcRect l="0" r="0" t="0" b="0"/>
          <a:stretch/>
        </p:blipFill>
        <p:spPr>
          <a:xfrm>
            <a:off x="1049867" y="2172364"/>
            <a:ext cx="279400" cy="279400"/>
          </a:xfrm>
          <a:prstGeom prst="rect">
            <a:avLst/>
          </a:prstGeom>
        </p:spPr>
      </p:pic>
      <p:sp>
        <p:nvSpPr>
          <p:cNvPr id="6" name="Text 3"/>
          <p:cNvSpPr/>
          <p:nvPr/>
        </p:nvSpPr>
        <p:spPr>
          <a:xfrm>
            <a:off x="1049867" y="2527964"/>
            <a:ext cx="303479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Detects, never exploits</a:t>
            </a:r>
            <a:endParaRPr lang="en-US" sz="1600" dirty="0"/>
          </a:p>
        </p:txBody>
      </p:sp>
      <p:sp>
        <p:nvSpPr>
          <p:cNvPr id="7" name="Text 4"/>
          <p:cNvSpPr/>
          <p:nvPr/>
        </p:nvSpPr>
        <p:spPr>
          <a:xfrm>
            <a:off x="1049867" y="2847975"/>
            <a:ext cx="3034792"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Every probe only asks a device what it supports. Nothing is attacked.</a:t>
            </a:r>
            <a:endParaRPr lang="en-US" sz="1200" dirty="0"/>
          </a:p>
        </p:txBody>
      </p:sp>
      <p:sp>
        <p:nvSpPr>
          <p:cNvPr id="8" name="Shape 5"/>
          <p:cNvSpPr/>
          <p:nvPr/>
        </p:nvSpPr>
        <p:spPr>
          <a:xfrm>
            <a:off x="4388908" y="1938474"/>
            <a:ext cx="3414183" cy="1569905"/>
          </a:xfrm>
          <a:prstGeom prst="roundRect">
            <a:avLst>
              <a:gd name="adj" fmla="val 6269"/>
            </a:avLst>
          </a:prstGeom>
          <a:solidFill>
            <a:srgbClr val="FBFCFB"/>
          </a:solidFill>
          <a:ln w="6350">
            <a:solidFill>
              <a:srgbClr val="DCE3E0"/>
            </a:solidFill>
            <a:prstDash val="solid"/>
          </a:ln>
        </p:spPr>
      </p:sp>
      <p:pic>
        <p:nvPicPr>
          <p:cNvPr id="9" name="Image 1" descr="Lock">    </p:cNvPr>
          <p:cNvPicPr>
            <a:picLocks noChangeAspect="1"/>
          </p:cNvPicPr>
          <p:nvPr/>
        </p:nvPicPr>
        <p:blipFill>
          <a:blip r:embed="rId2"/>
          <a:srcRect l="0" r="0" t="0" b="0"/>
          <a:stretch/>
        </p:blipFill>
        <p:spPr>
          <a:xfrm>
            <a:off x="4622800" y="2172364"/>
            <a:ext cx="279400" cy="279400"/>
          </a:xfrm>
          <a:prstGeom prst="rect">
            <a:avLst/>
          </a:prstGeom>
        </p:spPr>
      </p:pic>
      <p:sp>
        <p:nvSpPr>
          <p:cNvPr id="10" name="Text 6"/>
          <p:cNvSpPr/>
          <p:nvPr/>
        </p:nvSpPr>
        <p:spPr>
          <a:xfrm>
            <a:off x="4622800" y="2527964"/>
            <a:ext cx="303479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Your network only</a:t>
            </a:r>
            <a:endParaRPr lang="en-US" sz="1600" dirty="0"/>
          </a:p>
        </p:txBody>
      </p:sp>
      <p:sp>
        <p:nvSpPr>
          <p:cNvPr id="11" name="Text 7"/>
          <p:cNvSpPr/>
          <p:nvPr/>
        </p:nvSpPr>
        <p:spPr>
          <a:xfrm>
            <a:off x="4622800" y="2847975"/>
            <a:ext cx="3034792"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Refuses public IP ranges and asks users to confirm they are authorised.</a:t>
            </a:r>
            <a:endParaRPr lang="en-US" sz="1200" dirty="0"/>
          </a:p>
        </p:txBody>
      </p:sp>
      <p:sp>
        <p:nvSpPr>
          <p:cNvPr id="12" name="Shape 8"/>
          <p:cNvSpPr/>
          <p:nvPr/>
        </p:nvSpPr>
        <p:spPr>
          <a:xfrm>
            <a:off x="7961842" y="1938474"/>
            <a:ext cx="3414183" cy="1569905"/>
          </a:xfrm>
          <a:prstGeom prst="roundRect">
            <a:avLst>
              <a:gd name="adj" fmla="val 6269"/>
            </a:avLst>
          </a:prstGeom>
          <a:solidFill>
            <a:srgbClr val="FBFCFB"/>
          </a:solidFill>
          <a:ln w="6350">
            <a:solidFill>
              <a:srgbClr val="DCE3E0"/>
            </a:solidFill>
            <a:prstDash val="solid"/>
          </a:ln>
        </p:spPr>
      </p:sp>
      <p:pic>
        <p:nvPicPr>
          <p:cNvPr id="13" name="Image 2" descr="Database">    </p:cNvPr>
          <p:cNvPicPr>
            <a:picLocks noChangeAspect="1"/>
          </p:cNvPicPr>
          <p:nvPr/>
        </p:nvPicPr>
        <p:blipFill>
          <a:blip r:embed="rId3"/>
          <a:srcRect l="0" r="0" t="0" b="0"/>
          <a:stretch/>
        </p:blipFill>
        <p:spPr>
          <a:xfrm>
            <a:off x="8195734" y="2172364"/>
            <a:ext cx="279400" cy="279400"/>
          </a:xfrm>
          <a:prstGeom prst="rect">
            <a:avLst/>
          </a:prstGeom>
        </p:spPr>
      </p:pic>
      <p:sp>
        <p:nvSpPr>
          <p:cNvPr id="14" name="Text 9"/>
          <p:cNvSpPr/>
          <p:nvPr/>
        </p:nvSpPr>
        <p:spPr>
          <a:xfrm>
            <a:off x="8195734" y="2527964"/>
            <a:ext cx="303479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Data stays local</a:t>
            </a:r>
            <a:endParaRPr lang="en-US" sz="1600" dirty="0"/>
          </a:p>
        </p:txBody>
      </p:sp>
      <p:sp>
        <p:nvSpPr>
          <p:cNvPr id="15" name="Text 10"/>
          <p:cNvSpPr/>
          <p:nvPr/>
        </p:nvSpPr>
        <p:spPr>
          <a:xfrm>
            <a:off x="8195734" y="2847975"/>
            <a:ext cx="3034792"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Results stay on the PC. No telemetry and no cloud account needed.</a:t>
            </a:r>
            <a:endParaRPr lang="en-US" sz="1200" dirty="0"/>
          </a:p>
        </p:txBody>
      </p:sp>
      <p:sp>
        <p:nvSpPr>
          <p:cNvPr id="16" name="Shape 11"/>
          <p:cNvSpPr/>
          <p:nvPr/>
        </p:nvSpPr>
        <p:spPr>
          <a:xfrm>
            <a:off x="815975" y="3667125"/>
            <a:ext cx="3414183" cy="1569905"/>
          </a:xfrm>
          <a:prstGeom prst="roundRect">
            <a:avLst>
              <a:gd name="adj" fmla="val 6269"/>
            </a:avLst>
          </a:prstGeom>
          <a:solidFill>
            <a:srgbClr val="FBFCFB"/>
          </a:solidFill>
          <a:ln w="6350">
            <a:solidFill>
              <a:srgbClr val="DCE3E0"/>
            </a:solidFill>
            <a:prstDash val="solid"/>
          </a:ln>
        </p:spPr>
      </p:sp>
      <p:pic>
        <p:nvPicPr>
          <p:cNvPr id="17" name="Image 3" descr="Key">    </p:cNvPr>
          <p:cNvPicPr>
            <a:picLocks noChangeAspect="1"/>
          </p:cNvPicPr>
          <p:nvPr/>
        </p:nvPicPr>
        <p:blipFill>
          <a:blip r:embed="rId4"/>
          <a:srcRect l="0" r="0" t="0" b="0"/>
          <a:stretch/>
        </p:blipFill>
        <p:spPr>
          <a:xfrm>
            <a:off x="1049867" y="3901021"/>
            <a:ext cx="279400" cy="279400"/>
          </a:xfrm>
          <a:prstGeom prst="rect">
            <a:avLst/>
          </a:prstGeom>
        </p:spPr>
      </p:pic>
      <p:sp>
        <p:nvSpPr>
          <p:cNvPr id="18" name="Text 12"/>
          <p:cNvSpPr/>
          <p:nvPr/>
        </p:nvSpPr>
        <p:spPr>
          <a:xfrm>
            <a:off x="1049867" y="4256621"/>
            <a:ext cx="303479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Hardened app</a:t>
            </a:r>
            <a:endParaRPr lang="en-US" sz="1600" dirty="0"/>
          </a:p>
        </p:txBody>
      </p:sp>
      <p:sp>
        <p:nvSpPr>
          <p:cNvPr id="19" name="Text 13"/>
          <p:cNvSpPr/>
          <p:nvPr/>
        </p:nvSpPr>
        <p:spPr>
          <a:xfrm>
            <a:off x="1049867" y="4576632"/>
            <a:ext cx="3034792"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Localhost only, per-session token, DNS-rebinding and CSP protection.</a:t>
            </a:r>
            <a:endParaRPr lang="en-US" sz="1200" dirty="0"/>
          </a:p>
        </p:txBody>
      </p:sp>
      <p:sp>
        <p:nvSpPr>
          <p:cNvPr id="20" name="Shape 14"/>
          <p:cNvSpPr/>
          <p:nvPr/>
        </p:nvSpPr>
        <p:spPr>
          <a:xfrm>
            <a:off x="4388908" y="3667125"/>
            <a:ext cx="3414183" cy="1569905"/>
          </a:xfrm>
          <a:prstGeom prst="roundRect">
            <a:avLst>
              <a:gd name="adj" fmla="val 6269"/>
            </a:avLst>
          </a:prstGeom>
          <a:solidFill>
            <a:srgbClr val="FBFCFB"/>
          </a:solidFill>
          <a:ln w="6350">
            <a:solidFill>
              <a:srgbClr val="DCE3E0"/>
            </a:solidFill>
            <a:prstDash val="solid"/>
          </a:ln>
        </p:spPr>
      </p:sp>
      <p:pic>
        <p:nvPicPr>
          <p:cNvPr id="21" name="Image 4" descr="Trust">    </p:cNvPr>
          <p:cNvPicPr>
            <a:picLocks noChangeAspect="1"/>
          </p:cNvPicPr>
          <p:nvPr/>
        </p:nvPicPr>
        <p:blipFill>
          <a:blip r:embed="rId5"/>
          <a:srcRect l="0" r="0" t="0" b="0"/>
          <a:stretch/>
        </p:blipFill>
        <p:spPr>
          <a:xfrm>
            <a:off x="4622800" y="3901021"/>
            <a:ext cx="279400" cy="279400"/>
          </a:xfrm>
          <a:prstGeom prst="rect">
            <a:avLst/>
          </a:prstGeom>
        </p:spPr>
      </p:pic>
      <p:sp>
        <p:nvSpPr>
          <p:cNvPr id="22" name="Text 15"/>
          <p:cNvSpPr/>
          <p:nvPr/>
        </p:nvSpPr>
        <p:spPr>
          <a:xfrm>
            <a:off x="4622800" y="4256621"/>
            <a:ext cx="303479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Firewall-aware</a:t>
            </a:r>
            <a:endParaRPr lang="en-US" sz="1600" dirty="0"/>
          </a:p>
        </p:txBody>
      </p:sp>
      <p:sp>
        <p:nvSpPr>
          <p:cNvPr id="23" name="Text 16"/>
          <p:cNvSpPr/>
          <p:nvPr/>
        </p:nvSpPr>
        <p:spPr>
          <a:xfrm>
            <a:off x="4622800" y="4576632"/>
            <a:ext cx="3034792"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Reads Windows Firewall rules to separate real exposure from blocked ports.</a:t>
            </a:r>
            <a:endParaRPr lang="en-US" sz="1200" dirty="0"/>
          </a:p>
        </p:txBody>
      </p:sp>
      <p:sp>
        <p:nvSpPr>
          <p:cNvPr id="24" name="Shape 17"/>
          <p:cNvSpPr/>
          <p:nvPr/>
        </p:nvSpPr>
        <p:spPr>
          <a:xfrm>
            <a:off x="7961842" y="3667125"/>
            <a:ext cx="3414183" cy="1569905"/>
          </a:xfrm>
          <a:prstGeom prst="roundRect">
            <a:avLst>
              <a:gd name="adj" fmla="val 6269"/>
            </a:avLst>
          </a:prstGeom>
          <a:solidFill>
            <a:srgbClr val="FBFCFB"/>
          </a:solidFill>
          <a:ln w="6350">
            <a:solidFill>
              <a:srgbClr val="DCE3E0"/>
            </a:solidFill>
            <a:prstDash val="solid"/>
          </a:ln>
        </p:spPr>
      </p:sp>
      <p:pic>
        <p:nvPicPr>
          <p:cNvPr id="25" name="Image 5" descr="CheckCircle">    </p:cNvPr>
          <p:cNvPicPr>
            <a:picLocks noChangeAspect="1"/>
          </p:cNvPicPr>
          <p:nvPr/>
        </p:nvPicPr>
        <p:blipFill>
          <a:blip r:embed="rId6"/>
          <a:srcRect l="0" r="0" t="0" b="0"/>
          <a:stretch/>
        </p:blipFill>
        <p:spPr>
          <a:xfrm>
            <a:off x="8195734" y="3901021"/>
            <a:ext cx="279400" cy="279400"/>
          </a:xfrm>
          <a:prstGeom prst="rect">
            <a:avLst/>
          </a:prstGeom>
        </p:spPr>
      </p:pic>
      <p:sp>
        <p:nvSpPr>
          <p:cNvPr id="26" name="Text 18"/>
          <p:cNvSpPr/>
          <p:nvPr/>
        </p:nvSpPr>
        <p:spPr>
          <a:xfrm>
            <a:off x="8195734" y="4256621"/>
            <a:ext cx="303479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Tested every build</a:t>
            </a:r>
            <a:endParaRPr lang="en-US" sz="1600" dirty="0"/>
          </a:p>
        </p:txBody>
      </p:sp>
      <p:sp>
        <p:nvSpPr>
          <p:cNvPr id="27" name="Text 19"/>
          <p:cNvSpPr/>
          <p:nvPr/>
        </p:nvSpPr>
        <p:spPr>
          <a:xfrm>
            <a:off x="8195734" y="4576632"/>
            <a:ext cx="3034792"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46 automated tests run before any release is built.</a:t>
            </a:r>
            <a:endParaRPr lang="en-US" sz="1200" dirty="0"/>
          </a:p>
        </p:txBody>
      </p:sp>
      <p:sp>
        <p:nvSpPr>
          <p:cNvPr id="28" name="Text 20"/>
          <p:cNvSpPr/>
          <p:nvPr/>
        </p:nvSpPr>
        <p:spPr>
          <a:xfrm>
            <a:off x="812800" y="6238348"/>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NetGuard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41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FD3A2"/>
                </a:solidFill>
                <a:latin typeface="JetBrains Mono" pitchFamily="49" charset="0"/>
                <a:ea typeface="JetBrains Mono" pitchFamily="49" charset="-122"/>
                <a:cs typeface="JetBrains Mono" pitchFamily="49" charset="-120"/>
              </a:rPr>
              <a:t>TECHNOLOGY</a:t>
            </a:r>
            <a:endParaRPr lang="en-US" sz="1200" dirty="0"/>
          </a:p>
        </p:txBody>
      </p:sp>
      <p:sp>
        <p:nvSpPr>
          <p:cNvPr id="3" name="Text 1"/>
          <p:cNvSpPr/>
          <p:nvPr>
            <p:ph type="title"/>
          </p:nvPr>
        </p:nvSpPr>
        <p:spPr>
          <a:xfrm>
            <a:off x="812800" y="1127658"/>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4"/>
                </a:solidFill>
                <a:latin typeface="Space Grotesk" pitchFamily="34" charset="0"/>
                <a:ea typeface="Space Grotesk" pitchFamily="34" charset="-122"/>
                <a:cs typeface="Space Grotesk" pitchFamily="34" charset="-120"/>
              </a:rPr>
              <a:t>Simple, proven building blocks</a:t>
            </a:r>
            <a:endParaRPr lang="en-US" sz="3600" dirty="0"/>
          </a:p>
        </p:txBody>
      </p:sp>
      <p:sp>
        <p:nvSpPr>
          <p:cNvPr id="4" name="Shape 2"/>
          <p:cNvSpPr/>
          <p:nvPr/>
        </p:nvSpPr>
        <p:spPr>
          <a:xfrm>
            <a:off x="812800" y="1935299"/>
            <a:ext cx="6604000" cy="589227"/>
          </a:xfrm>
          <a:prstGeom prst="roundRect">
            <a:avLst>
              <a:gd name="adj" fmla="val 10777"/>
            </a:avLst>
          </a:prstGeom>
          <a:solidFill>
            <a:srgbClr val="1A1E23"/>
          </a:solidFill>
          <a:ln/>
        </p:spPr>
      </p:sp>
      <p:sp>
        <p:nvSpPr>
          <p:cNvPr id="5" name="Shape 3"/>
          <p:cNvSpPr/>
          <p:nvPr/>
        </p:nvSpPr>
        <p:spPr>
          <a:xfrm>
            <a:off x="812800" y="1935299"/>
            <a:ext cx="6604000" cy="589227"/>
          </a:xfrm>
          <a:custGeom>
            <a:avLst/>
            <a:gdLst/>
            <a:ahLst/>
            <a:cxnLst/>
            <a:rect l="l" t="t" r="r" b="b"/>
            <a:pathLst>
              <a:path w="6604000" h="589227">
                <a:moveTo>
                  <a:pt x="63500" y="589227"/>
                </a:moveTo>
                <a:lnTo>
                  <a:pt x="63500" y="589227"/>
                </a:lnTo>
                <a:arcTo hR="63500" wR="63500" stAng="5400000" swAng="5400000"/>
                <a:lnTo>
                  <a:pt x="0" y="63500"/>
                </a:lnTo>
                <a:arcTo hR="63500" wR="63500" stAng="10800000" swAng="5400000"/>
                <a:lnTo>
                  <a:pt x="63500" y="0"/>
                </a:lnTo>
                <a:arcTo hR="63500" wR="25400" stAng="16200000" swAng="-5400000"/>
                <a:lnTo>
                  <a:pt x="38100" y="525727"/>
                </a:lnTo>
                <a:arcTo hR="63500" wR="25400" stAng="10800000" swAng="-5400000"/>
                <a:close/>
              </a:path>
            </a:pathLst>
          </a:custGeom>
          <a:solidFill>
            <a:srgbClr val="2FD3A2"/>
          </a:solidFill>
          <a:ln/>
        </p:spPr>
      </p:sp>
      <p:sp>
        <p:nvSpPr>
          <p:cNvPr id="6" name="Text 4"/>
          <p:cNvSpPr/>
          <p:nvPr/>
        </p:nvSpPr>
        <p:spPr>
          <a:xfrm>
            <a:off x="1049867" y="2087699"/>
            <a:ext cx="1420654"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4"/>
                </a:solidFill>
                <a:latin typeface="IBM Plex Sans" pitchFamily="34" charset="0"/>
                <a:ea typeface="IBM Plex Sans" pitchFamily="34" charset="-122"/>
                <a:cs typeface="IBM Plex Sans" pitchFamily="34" charset="-120"/>
              </a:rPr>
              <a:t>Desktop app</a:t>
            </a:r>
            <a:endParaRPr lang="en-US" sz="1600" dirty="0"/>
          </a:p>
        </p:txBody>
      </p:sp>
      <p:sp>
        <p:nvSpPr>
          <p:cNvPr id="7" name="Text 5"/>
          <p:cNvSpPr/>
          <p:nvPr/>
        </p:nvSpPr>
        <p:spPr>
          <a:xfrm>
            <a:off x="4580096" y="2123281"/>
            <a:ext cx="2633504" cy="23865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pywebview, Edge WebView2</a:t>
            </a:r>
            <a:endParaRPr lang="en-US" sz="1200" dirty="0"/>
          </a:p>
        </p:txBody>
      </p:sp>
      <p:sp>
        <p:nvSpPr>
          <p:cNvPr id="8" name="Shape 6"/>
          <p:cNvSpPr/>
          <p:nvPr/>
        </p:nvSpPr>
        <p:spPr>
          <a:xfrm>
            <a:off x="812800" y="2600722"/>
            <a:ext cx="6604000" cy="589227"/>
          </a:xfrm>
          <a:prstGeom prst="roundRect">
            <a:avLst>
              <a:gd name="adj" fmla="val 10777"/>
            </a:avLst>
          </a:prstGeom>
          <a:solidFill>
            <a:srgbClr val="1A1E23"/>
          </a:solidFill>
          <a:ln/>
        </p:spPr>
      </p:sp>
      <p:sp>
        <p:nvSpPr>
          <p:cNvPr id="9" name="Shape 7"/>
          <p:cNvSpPr/>
          <p:nvPr/>
        </p:nvSpPr>
        <p:spPr>
          <a:xfrm>
            <a:off x="812800" y="2600722"/>
            <a:ext cx="6604000" cy="589227"/>
          </a:xfrm>
          <a:custGeom>
            <a:avLst/>
            <a:gdLst/>
            <a:ahLst/>
            <a:cxnLst/>
            <a:rect l="l" t="t" r="r" b="b"/>
            <a:pathLst>
              <a:path w="6604000" h="589227">
                <a:moveTo>
                  <a:pt x="63500" y="589227"/>
                </a:moveTo>
                <a:lnTo>
                  <a:pt x="63500" y="589227"/>
                </a:lnTo>
                <a:arcTo hR="63500" wR="63500" stAng="5400000" swAng="5400000"/>
                <a:lnTo>
                  <a:pt x="0" y="63500"/>
                </a:lnTo>
                <a:arcTo hR="63500" wR="63500" stAng="10800000" swAng="5400000"/>
                <a:lnTo>
                  <a:pt x="63500" y="0"/>
                </a:lnTo>
                <a:arcTo hR="63500" wR="25400" stAng="16200000" swAng="-5400000"/>
                <a:lnTo>
                  <a:pt x="38100" y="525727"/>
                </a:lnTo>
                <a:arcTo hR="63500" wR="25400" stAng="10800000" swAng="-5400000"/>
                <a:close/>
              </a:path>
            </a:pathLst>
          </a:custGeom>
          <a:solidFill>
            <a:srgbClr val="2FD3A2"/>
          </a:solidFill>
          <a:ln/>
        </p:spPr>
      </p:sp>
      <p:sp>
        <p:nvSpPr>
          <p:cNvPr id="10" name="Text 8"/>
          <p:cNvSpPr/>
          <p:nvPr/>
        </p:nvSpPr>
        <p:spPr>
          <a:xfrm>
            <a:off x="1049867" y="2753122"/>
            <a:ext cx="1230313"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4"/>
                </a:solidFill>
                <a:latin typeface="IBM Plex Sans" pitchFamily="34" charset="0"/>
                <a:ea typeface="IBM Plex Sans" pitchFamily="34" charset="-122"/>
                <a:cs typeface="IBM Plex Sans" pitchFamily="34" charset="-120"/>
              </a:rPr>
              <a:t>Dashboard</a:t>
            </a:r>
            <a:endParaRPr lang="en-US" sz="1600" dirty="0"/>
          </a:p>
        </p:txBody>
      </p:sp>
      <p:sp>
        <p:nvSpPr>
          <p:cNvPr id="11" name="Text 9"/>
          <p:cNvSpPr/>
          <p:nvPr/>
        </p:nvSpPr>
        <p:spPr>
          <a:xfrm>
            <a:off x="4909185" y="2788710"/>
            <a:ext cx="2304415" cy="23865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HTML, CSS, JavaScript</a:t>
            </a:r>
            <a:endParaRPr lang="en-US" sz="1200" dirty="0"/>
          </a:p>
        </p:txBody>
      </p:sp>
      <p:sp>
        <p:nvSpPr>
          <p:cNvPr id="12" name="Shape 10"/>
          <p:cNvSpPr/>
          <p:nvPr/>
        </p:nvSpPr>
        <p:spPr>
          <a:xfrm>
            <a:off x="812800" y="3266151"/>
            <a:ext cx="6604000" cy="589227"/>
          </a:xfrm>
          <a:prstGeom prst="roundRect">
            <a:avLst>
              <a:gd name="adj" fmla="val 10777"/>
            </a:avLst>
          </a:prstGeom>
          <a:solidFill>
            <a:srgbClr val="1A1E23"/>
          </a:solidFill>
          <a:ln/>
        </p:spPr>
      </p:sp>
      <p:sp>
        <p:nvSpPr>
          <p:cNvPr id="13" name="Shape 11"/>
          <p:cNvSpPr/>
          <p:nvPr/>
        </p:nvSpPr>
        <p:spPr>
          <a:xfrm>
            <a:off x="812800" y="3266151"/>
            <a:ext cx="6604000" cy="589227"/>
          </a:xfrm>
          <a:custGeom>
            <a:avLst/>
            <a:gdLst/>
            <a:ahLst/>
            <a:cxnLst/>
            <a:rect l="l" t="t" r="r" b="b"/>
            <a:pathLst>
              <a:path w="6604000" h="589227">
                <a:moveTo>
                  <a:pt x="63500" y="589227"/>
                </a:moveTo>
                <a:lnTo>
                  <a:pt x="63500" y="589227"/>
                </a:lnTo>
                <a:arcTo hR="63500" wR="63500" stAng="5400000" swAng="5400000"/>
                <a:lnTo>
                  <a:pt x="0" y="63500"/>
                </a:lnTo>
                <a:arcTo hR="63500" wR="63500" stAng="10800000" swAng="5400000"/>
                <a:lnTo>
                  <a:pt x="63500" y="0"/>
                </a:lnTo>
                <a:arcTo hR="63500" wR="25400" stAng="16200000" swAng="-5400000"/>
                <a:lnTo>
                  <a:pt x="38100" y="525727"/>
                </a:lnTo>
                <a:arcTo hR="63500" wR="25400" stAng="10800000" swAng="-5400000"/>
                <a:close/>
              </a:path>
            </a:pathLst>
          </a:custGeom>
          <a:solidFill>
            <a:srgbClr val="2FD3A2"/>
          </a:solidFill>
          <a:ln/>
        </p:spPr>
      </p:sp>
      <p:sp>
        <p:nvSpPr>
          <p:cNvPr id="14" name="Text 12"/>
          <p:cNvSpPr/>
          <p:nvPr/>
        </p:nvSpPr>
        <p:spPr>
          <a:xfrm>
            <a:off x="1049867" y="3418551"/>
            <a:ext cx="423386"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4"/>
                </a:solidFill>
                <a:latin typeface="IBM Plex Sans" pitchFamily="34" charset="0"/>
                <a:ea typeface="IBM Plex Sans" pitchFamily="34" charset="-122"/>
                <a:cs typeface="IBM Plex Sans" pitchFamily="34" charset="-120"/>
              </a:rPr>
              <a:t>API</a:t>
            </a:r>
            <a:endParaRPr lang="en-US" sz="1600" dirty="0"/>
          </a:p>
        </p:txBody>
      </p:sp>
      <p:sp>
        <p:nvSpPr>
          <p:cNvPr id="15" name="Text 13"/>
          <p:cNvSpPr/>
          <p:nvPr/>
        </p:nvSpPr>
        <p:spPr>
          <a:xfrm>
            <a:off x="4799489" y="3454140"/>
            <a:ext cx="2414111" cy="23865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Flask, token-protected</a:t>
            </a:r>
            <a:endParaRPr lang="en-US" sz="1200" dirty="0"/>
          </a:p>
        </p:txBody>
      </p:sp>
      <p:sp>
        <p:nvSpPr>
          <p:cNvPr id="16" name="Shape 14"/>
          <p:cNvSpPr/>
          <p:nvPr/>
        </p:nvSpPr>
        <p:spPr>
          <a:xfrm>
            <a:off x="812800" y="3931580"/>
            <a:ext cx="6604000" cy="589227"/>
          </a:xfrm>
          <a:prstGeom prst="roundRect">
            <a:avLst>
              <a:gd name="adj" fmla="val 10777"/>
            </a:avLst>
          </a:prstGeom>
          <a:solidFill>
            <a:srgbClr val="1A1E23"/>
          </a:solidFill>
          <a:ln/>
        </p:spPr>
      </p:sp>
      <p:sp>
        <p:nvSpPr>
          <p:cNvPr id="17" name="Shape 15"/>
          <p:cNvSpPr/>
          <p:nvPr/>
        </p:nvSpPr>
        <p:spPr>
          <a:xfrm>
            <a:off x="812800" y="3931580"/>
            <a:ext cx="6604000" cy="589227"/>
          </a:xfrm>
          <a:custGeom>
            <a:avLst/>
            <a:gdLst/>
            <a:ahLst/>
            <a:cxnLst/>
            <a:rect l="l" t="t" r="r" b="b"/>
            <a:pathLst>
              <a:path w="6604000" h="589227">
                <a:moveTo>
                  <a:pt x="63500" y="589227"/>
                </a:moveTo>
                <a:lnTo>
                  <a:pt x="63500" y="589227"/>
                </a:lnTo>
                <a:arcTo hR="63500" wR="63500" stAng="5400000" swAng="5400000"/>
                <a:lnTo>
                  <a:pt x="0" y="63500"/>
                </a:lnTo>
                <a:arcTo hR="63500" wR="63500" stAng="10800000" swAng="5400000"/>
                <a:lnTo>
                  <a:pt x="63500" y="0"/>
                </a:lnTo>
                <a:arcTo hR="63500" wR="25400" stAng="16200000" swAng="-5400000"/>
                <a:lnTo>
                  <a:pt x="38100" y="525727"/>
                </a:lnTo>
                <a:arcTo hR="63500" wR="25400" stAng="10800000" swAng="-5400000"/>
                <a:close/>
              </a:path>
            </a:pathLst>
          </a:custGeom>
          <a:solidFill>
            <a:srgbClr val="2FD3A2"/>
          </a:solidFill>
          <a:ln/>
        </p:spPr>
      </p:sp>
      <p:sp>
        <p:nvSpPr>
          <p:cNvPr id="18" name="Text 16"/>
          <p:cNvSpPr/>
          <p:nvPr/>
        </p:nvSpPr>
        <p:spPr>
          <a:xfrm>
            <a:off x="1049867" y="4083980"/>
            <a:ext cx="1370171"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4"/>
                </a:solidFill>
                <a:latin typeface="IBM Plex Sans" pitchFamily="34" charset="0"/>
                <a:ea typeface="IBM Plex Sans" pitchFamily="34" charset="-122"/>
                <a:cs typeface="IBM Plex Sans" pitchFamily="34" charset="-120"/>
              </a:rPr>
              <a:t>Scan engine</a:t>
            </a:r>
            <a:endParaRPr lang="en-US" sz="1600" dirty="0"/>
          </a:p>
        </p:txBody>
      </p:sp>
      <p:sp>
        <p:nvSpPr>
          <p:cNvPr id="19" name="Text 17"/>
          <p:cNvSpPr/>
          <p:nvPr/>
        </p:nvSpPr>
        <p:spPr>
          <a:xfrm>
            <a:off x="4580096" y="4119562"/>
            <a:ext cx="2633504" cy="23865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Python: probes and rules</a:t>
            </a:r>
            <a:endParaRPr lang="en-US" sz="1200" dirty="0"/>
          </a:p>
        </p:txBody>
      </p:sp>
      <p:sp>
        <p:nvSpPr>
          <p:cNvPr id="20" name="Shape 18"/>
          <p:cNvSpPr/>
          <p:nvPr/>
        </p:nvSpPr>
        <p:spPr>
          <a:xfrm>
            <a:off x="812800" y="4597003"/>
            <a:ext cx="6604000" cy="589227"/>
          </a:xfrm>
          <a:prstGeom prst="roundRect">
            <a:avLst>
              <a:gd name="adj" fmla="val 10777"/>
            </a:avLst>
          </a:prstGeom>
          <a:solidFill>
            <a:srgbClr val="1A1E23"/>
          </a:solidFill>
          <a:ln/>
        </p:spPr>
      </p:sp>
      <p:sp>
        <p:nvSpPr>
          <p:cNvPr id="21" name="Shape 19"/>
          <p:cNvSpPr/>
          <p:nvPr/>
        </p:nvSpPr>
        <p:spPr>
          <a:xfrm>
            <a:off x="812800" y="4597003"/>
            <a:ext cx="6604000" cy="589227"/>
          </a:xfrm>
          <a:custGeom>
            <a:avLst/>
            <a:gdLst/>
            <a:ahLst/>
            <a:cxnLst/>
            <a:rect l="l" t="t" r="r" b="b"/>
            <a:pathLst>
              <a:path w="6604000" h="589227">
                <a:moveTo>
                  <a:pt x="63500" y="589227"/>
                </a:moveTo>
                <a:lnTo>
                  <a:pt x="63500" y="589227"/>
                </a:lnTo>
                <a:arcTo hR="63500" wR="63500" stAng="5400000" swAng="5400000"/>
                <a:lnTo>
                  <a:pt x="0" y="63500"/>
                </a:lnTo>
                <a:arcTo hR="63500" wR="63500" stAng="10800000" swAng="5400000"/>
                <a:lnTo>
                  <a:pt x="63500" y="0"/>
                </a:lnTo>
                <a:arcTo hR="63500" wR="25400" stAng="16200000" swAng="-5400000"/>
                <a:lnTo>
                  <a:pt x="38100" y="525727"/>
                </a:lnTo>
                <a:arcTo hR="63500" wR="25400" stAng="10800000" swAng="-5400000"/>
                <a:close/>
              </a:path>
            </a:pathLst>
          </a:custGeom>
          <a:solidFill>
            <a:srgbClr val="2FD3A2"/>
          </a:solidFill>
          <a:ln/>
        </p:spPr>
      </p:sp>
      <p:sp>
        <p:nvSpPr>
          <p:cNvPr id="22" name="Text 20"/>
          <p:cNvSpPr/>
          <p:nvPr/>
        </p:nvSpPr>
        <p:spPr>
          <a:xfrm>
            <a:off x="1049867" y="4749403"/>
            <a:ext cx="872649"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1F4"/>
                </a:solidFill>
                <a:latin typeface="IBM Plex Sans" pitchFamily="34" charset="0"/>
                <a:ea typeface="IBM Plex Sans" pitchFamily="34" charset="-122"/>
                <a:cs typeface="IBM Plex Sans" pitchFamily="34" charset="-120"/>
              </a:rPr>
              <a:t>Storage</a:t>
            </a:r>
            <a:endParaRPr lang="en-US" sz="1600" dirty="0"/>
          </a:p>
        </p:txBody>
      </p:sp>
      <p:sp>
        <p:nvSpPr>
          <p:cNvPr id="23" name="Text 21"/>
          <p:cNvSpPr/>
          <p:nvPr/>
        </p:nvSpPr>
        <p:spPr>
          <a:xfrm>
            <a:off x="4689793" y="4784992"/>
            <a:ext cx="2523808" cy="23865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SQLite on the user's PC</a:t>
            </a:r>
            <a:endParaRPr lang="en-US" sz="1200" dirty="0"/>
          </a:p>
        </p:txBody>
      </p:sp>
      <p:sp>
        <p:nvSpPr>
          <p:cNvPr id="24" name="Text 22"/>
          <p:cNvSpPr/>
          <p:nvPr/>
        </p:nvSpPr>
        <p:spPr>
          <a:xfrm>
            <a:off x="7823200" y="1935299"/>
            <a:ext cx="36626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D3A2"/>
                </a:solidFill>
                <a:latin typeface="Space Grotesk" pitchFamily="34" charset="0"/>
                <a:ea typeface="Space Grotesk" pitchFamily="34" charset="-122"/>
                <a:cs typeface="Space Grotesk" pitchFamily="34" charset="-120"/>
              </a:rPr>
              <a:t>How it ships</a:t>
            </a:r>
            <a:endParaRPr lang="en-US" sz="1600" dirty="0"/>
          </a:p>
        </p:txBody>
      </p:sp>
      <p:sp>
        <p:nvSpPr>
          <p:cNvPr id="25" name="Text 23"/>
          <p:cNvSpPr/>
          <p:nvPr/>
        </p:nvSpPr>
        <p:spPr>
          <a:xfrm>
            <a:off x="7901432" y="2306110"/>
            <a:ext cx="3576828"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NetGuard.exe built with PyInstaller</a:t>
            </a:r>
            <a:endParaRPr lang="en-US" sz="1400" dirty="0"/>
          </a:p>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Windows installer with Inno Setup</a:t>
            </a:r>
            <a:endParaRPr lang="en-US" sz="1400" dirty="0"/>
          </a:p>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PDF reports with ReportLab</a:t>
            </a:r>
            <a:endParaRPr lang="en-US" sz="1400" dirty="0"/>
          </a:p>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Signed licence keys, checked offline</a:t>
            </a:r>
            <a:endParaRPr lang="en-US" sz="1400" dirty="0"/>
          </a:p>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Open-source parts all use permissive licences</a:t>
            </a:r>
            <a:endParaRPr lang="en-US" sz="1400" dirty="0"/>
          </a:p>
        </p:txBody>
      </p:sp>
      <p:sp>
        <p:nvSpPr>
          <p:cNvPr id="26" name="Text 24"/>
          <p:cNvSpPr/>
          <p:nvPr/>
        </p:nvSpPr>
        <p:spPr>
          <a:xfrm>
            <a:off x="812800" y="6238348"/>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NetGuard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D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E"/>
                </a:solidFill>
                <a:latin typeface="JetBrains Mono" pitchFamily="49" charset="0"/>
                <a:ea typeface="JetBrains Mono" pitchFamily="49" charset="-122"/>
                <a:cs typeface="JetBrains Mono" pitchFamily="49" charset="-120"/>
              </a:rPr>
              <a:t>BUSINESS MODEL</a:t>
            </a:r>
            <a:endParaRPr lang="en-US" sz="1200" dirty="0"/>
          </a:p>
        </p:txBody>
      </p:sp>
      <p:sp>
        <p:nvSpPr>
          <p:cNvPr id="3" name="Text 1"/>
          <p:cNvSpPr/>
          <p:nvPr>
            <p:ph type="title"/>
          </p:nvPr>
        </p:nvSpPr>
        <p:spPr>
          <a:xfrm>
            <a:off x="812800" y="1127658"/>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Two editions: Free and Pro</a:t>
            </a:r>
            <a:endParaRPr lang="en-US" sz="3600" dirty="0"/>
          </a:p>
        </p:txBody>
      </p:sp>
      <p:sp>
        <p:nvSpPr>
          <p:cNvPr id="4" name="Shape 2"/>
          <p:cNvSpPr/>
          <p:nvPr/>
        </p:nvSpPr>
        <p:spPr>
          <a:xfrm>
            <a:off x="815975" y="1938474"/>
            <a:ext cx="5183717" cy="2923778"/>
          </a:xfrm>
          <a:prstGeom prst="roundRect">
            <a:avLst>
              <a:gd name="adj" fmla="val 4235"/>
            </a:avLst>
          </a:prstGeom>
          <a:solidFill>
            <a:srgbClr val="FBFCFB"/>
          </a:solidFill>
          <a:ln w="6350">
            <a:solidFill>
              <a:srgbClr val="DCE3E0"/>
            </a:solidFill>
            <a:prstDash val="solid"/>
          </a:ln>
        </p:spPr>
      </p:sp>
      <p:sp>
        <p:nvSpPr>
          <p:cNvPr id="5" name="Text 3"/>
          <p:cNvSpPr/>
          <p:nvPr/>
        </p:nvSpPr>
        <p:spPr>
          <a:xfrm>
            <a:off x="1126067" y="2248564"/>
            <a:ext cx="4700439" cy="23865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5E"/>
                </a:solidFill>
                <a:latin typeface="JetBrains Mono" pitchFamily="49" charset="0"/>
                <a:ea typeface="JetBrains Mono" pitchFamily="49" charset="-122"/>
                <a:cs typeface="JetBrains Mono" pitchFamily="49" charset="-120"/>
              </a:rPr>
              <a:t>FREE · HOME USERS</a:t>
            </a:r>
            <a:endParaRPr lang="en-US" sz="1200" dirty="0"/>
          </a:p>
        </p:txBody>
      </p:sp>
      <p:sp>
        <p:nvSpPr>
          <p:cNvPr id="6" name="Text 4"/>
          <p:cNvSpPr/>
          <p:nvPr/>
        </p:nvSpPr>
        <p:spPr>
          <a:xfrm>
            <a:off x="1126067" y="2588816"/>
            <a:ext cx="4700439"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4181D"/>
                </a:solidFill>
                <a:latin typeface="Space Grotesk" pitchFamily="34" charset="0"/>
                <a:ea typeface="Space Grotesk" pitchFamily="34" charset="-122"/>
                <a:cs typeface="Space Grotesk" pitchFamily="34" charset="-120"/>
              </a:rPr>
              <a:t>Free</a:t>
            </a:r>
            <a:endParaRPr lang="en-US" sz="3600" dirty="0"/>
          </a:p>
        </p:txBody>
      </p:sp>
      <p:sp>
        <p:nvSpPr>
          <p:cNvPr id="7" name="Text 5"/>
          <p:cNvSpPr/>
          <p:nvPr/>
        </p:nvSpPr>
        <p:spPr>
          <a:xfrm>
            <a:off x="1204299" y="3218656"/>
            <a:ext cx="4614587"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560"/>
                </a:solidFill>
                <a:latin typeface="IBM Plex Sans" pitchFamily="34" charset="0"/>
                <a:ea typeface="IBM Plex Sans" pitchFamily="34" charset="-122"/>
                <a:cs typeface="IBM Plex Sans" pitchFamily="34" charset="-120"/>
              </a:rPr>
              <a:t>Wi-Fi survey and device discovery</a:t>
            </a:r>
            <a:endParaRPr lang="en-US" sz="1400" dirty="0"/>
          </a:p>
          <a:p>
            <a:pPr algn="l" marL="175768" indent="-175768">
              <a:lnSpc>
                <a:spcPts val="2100"/>
              </a:lnSpc>
              <a:buSzPct val="100000"/>
              <a:buChar char="•"/>
            </a:pPr>
            <a:r>
              <a:rPr lang="en-US" sz="1400" dirty="0">
                <a:solidFill>
                  <a:srgbClr val="4A5560"/>
                </a:solidFill>
                <a:latin typeface="IBM Plex Sans" pitchFamily="34" charset="0"/>
                <a:ea typeface="IBM Plex Sans" pitchFamily="34" charset="-122"/>
                <a:cs typeface="IBM Plex Sans" pitchFamily="34" charset="-120"/>
              </a:rPr>
              <a:t>All four scan modes</a:t>
            </a:r>
            <a:endParaRPr lang="en-US" sz="1400" dirty="0"/>
          </a:p>
          <a:p>
            <a:pPr algn="l" marL="175768" indent="-175768">
              <a:lnSpc>
                <a:spcPts val="2100"/>
              </a:lnSpc>
              <a:buSzPct val="100000"/>
              <a:buChar char="•"/>
            </a:pPr>
            <a:r>
              <a:rPr lang="en-US" sz="1400" dirty="0">
                <a:solidFill>
                  <a:srgbClr val="4A5560"/>
                </a:solidFill>
                <a:latin typeface="IBM Plex Sans" pitchFamily="34" charset="0"/>
                <a:ea typeface="IBM Plex Sans" pitchFamily="34" charset="-122"/>
                <a:cs typeface="IBM Plex Sans" pitchFamily="34" charset="-120"/>
              </a:rPr>
              <a:t>Vulnerability checks with fixes</a:t>
            </a:r>
            <a:endParaRPr lang="en-US" sz="1400" dirty="0"/>
          </a:p>
          <a:p>
            <a:pPr algn="l" marL="175768" indent="-175768">
              <a:lnSpc>
                <a:spcPts val="2100"/>
              </a:lnSpc>
              <a:buSzPct val="100000"/>
              <a:buChar char="•"/>
            </a:pPr>
            <a:r>
              <a:rPr lang="en-US" sz="1400" dirty="0">
                <a:solidFill>
                  <a:srgbClr val="4A5560"/>
                </a:solidFill>
                <a:latin typeface="IBM Plex Sans" pitchFamily="34" charset="0"/>
                <a:ea typeface="IBM Plex Sans" pitchFamily="34" charset="-122"/>
                <a:cs typeface="IBM Plex Sans" pitchFamily="34" charset="-120"/>
              </a:rPr>
              <a:t>Security score and in-app alerts</a:t>
            </a:r>
            <a:endParaRPr lang="en-US" sz="1400" dirty="0"/>
          </a:p>
          <a:p>
            <a:pPr algn="l" marL="175768" indent="-175768">
              <a:lnSpc>
                <a:spcPts val="2100"/>
              </a:lnSpc>
              <a:buSzPct val="100000"/>
              <a:buChar char="•"/>
            </a:pPr>
            <a:r>
              <a:rPr lang="en-US" sz="1400" dirty="0">
                <a:solidFill>
                  <a:srgbClr val="4A5560"/>
                </a:solidFill>
                <a:latin typeface="IBM Plex Sans" pitchFamily="34" charset="0"/>
                <a:ea typeface="IBM Plex Sans" pitchFamily="34" charset="-122"/>
                <a:cs typeface="IBM Plex Sans" pitchFamily="34" charset="-120"/>
              </a:rPr>
              <a:t>Reports and one saved site</a:t>
            </a:r>
            <a:endParaRPr lang="en-US" sz="1400" dirty="0"/>
          </a:p>
        </p:txBody>
      </p:sp>
      <p:sp>
        <p:nvSpPr>
          <p:cNvPr id="8" name="Shape 6"/>
          <p:cNvSpPr/>
          <p:nvPr/>
        </p:nvSpPr>
        <p:spPr>
          <a:xfrm>
            <a:off x="6206067" y="1935299"/>
            <a:ext cx="5173133" cy="2930128"/>
          </a:xfrm>
          <a:prstGeom prst="roundRect">
            <a:avLst>
              <a:gd name="adj" fmla="val 4334"/>
            </a:avLst>
          </a:prstGeom>
          <a:solidFill>
            <a:srgbClr val="111418"/>
          </a:solidFill>
          <a:ln/>
        </p:spPr>
      </p:sp>
      <p:sp>
        <p:nvSpPr>
          <p:cNvPr id="9" name="Text 7"/>
          <p:cNvSpPr/>
          <p:nvPr/>
        </p:nvSpPr>
        <p:spPr>
          <a:xfrm>
            <a:off x="6510867" y="2240099"/>
            <a:ext cx="4700439" cy="23865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D3A2"/>
                </a:solidFill>
                <a:latin typeface="JetBrains Mono" pitchFamily="49" charset="0"/>
                <a:ea typeface="JetBrains Mono" pitchFamily="49" charset="-122"/>
                <a:cs typeface="JetBrains Mono" pitchFamily="49" charset="-120"/>
              </a:rPr>
              <a:t>PRO · IT PROS AND SMALL BUSINESSES</a:t>
            </a:r>
            <a:endParaRPr lang="en-US" sz="1200" dirty="0"/>
          </a:p>
        </p:txBody>
      </p:sp>
      <p:sp>
        <p:nvSpPr>
          <p:cNvPr id="10" name="Text 8"/>
          <p:cNvSpPr/>
          <p:nvPr/>
        </p:nvSpPr>
        <p:spPr>
          <a:xfrm>
            <a:off x="6510867" y="2580351"/>
            <a:ext cx="4700439"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EF1F4"/>
                </a:solidFill>
                <a:latin typeface="Space Grotesk" pitchFamily="34" charset="0"/>
                <a:ea typeface="Space Grotesk" pitchFamily="34" charset="-122"/>
                <a:cs typeface="Space Grotesk" pitchFamily="34" charset="-120"/>
              </a:rPr>
              <a:t>[$__] / year</a:t>
            </a:r>
            <a:endParaRPr lang="en-US" sz="3600" dirty="0"/>
          </a:p>
        </p:txBody>
      </p:sp>
      <p:sp>
        <p:nvSpPr>
          <p:cNvPr id="11" name="Text 9"/>
          <p:cNvSpPr/>
          <p:nvPr/>
        </p:nvSpPr>
        <p:spPr>
          <a:xfrm>
            <a:off x="6589099" y="3210192"/>
            <a:ext cx="4614587" cy="13589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Everything in Free</a:t>
            </a:r>
            <a:endParaRPr lang="en-US" sz="1400" dirty="0"/>
          </a:p>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Scheduled automatic scans</a:t>
            </a:r>
            <a:endParaRPr lang="en-US" sz="1400" dirty="0"/>
          </a:p>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Unlimited sites and networks</a:t>
            </a:r>
            <a:endParaRPr lang="en-US" sz="1400" dirty="0"/>
          </a:p>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Branded reports for clients</a:t>
            </a:r>
            <a:endParaRPr lang="en-US" sz="1400" dirty="0"/>
          </a:p>
          <a:p>
            <a:pPr algn="l" marL="175768" indent="-175768">
              <a:lnSpc>
                <a:spcPts val="2100"/>
              </a:lnSpc>
              <a:buSzPct val="100000"/>
              <a:buChar char="•"/>
            </a:pPr>
            <a:r>
              <a:rPr lang="en-US" sz="1400" dirty="0">
                <a:solidFill>
                  <a:srgbClr val="C9D1D9"/>
                </a:solidFill>
                <a:latin typeface="IBM Plex Sans" pitchFamily="34" charset="0"/>
                <a:ea typeface="IBM Plex Sans" pitchFamily="34" charset="-122"/>
                <a:cs typeface="IBM Plex Sans" pitchFamily="34" charset="-120"/>
              </a:rPr>
              <a:t>Email and Telegram alerts</a:t>
            </a:r>
            <a:endParaRPr lang="en-US" sz="1400" dirty="0"/>
          </a:p>
        </p:txBody>
      </p:sp>
      <p:sp>
        <p:nvSpPr>
          <p:cNvPr id="12" name="Text 10"/>
          <p:cNvSpPr/>
          <p:nvPr/>
        </p:nvSpPr>
        <p:spPr>
          <a:xfrm>
            <a:off x="812800" y="6238348"/>
            <a:ext cx="91567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NetGuard · 11 · Both editions available in version 3.0 · pricing to be decided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41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FD3A2"/>
                </a:solidFill>
                <a:latin typeface="JetBrains Mono" pitchFamily="49" charset="0"/>
                <a:ea typeface="JetBrains Mono" pitchFamily="49" charset="-122"/>
                <a:cs typeface="JetBrains Mono" pitchFamily="49" charset="-120"/>
              </a:rPr>
              <a:t>NETGUARD PRO</a:t>
            </a:r>
            <a:endParaRPr lang="en-US" sz="1200" dirty="0"/>
          </a:p>
        </p:txBody>
      </p:sp>
      <p:sp>
        <p:nvSpPr>
          <p:cNvPr id="3" name="Text 1"/>
          <p:cNvSpPr/>
          <p:nvPr>
            <p:ph type="title"/>
          </p:nvPr>
        </p:nvSpPr>
        <p:spPr>
          <a:xfrm>
            <a:off x="812800" y="1127658"/>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F1F4"/>
                </a:solidFill>
                <a:latin typeface="Space Grotesk" pitchFamily="34" charset="0"/>
                <a:ea typeface="Space Grotesk" pitchFamily="34" charset="-122"/>
                <a:cs typeface="Space Grotesk" pitchFamily="34" charset="-120"/>
              </a:rPr>
              <a:t>What Pro adds for network managers</a:t>
            </a:r>
            <a:endParaRPr lang="en-US" sz="3600" dirty="0"/>
          </a:p>
        </p:txBody>
      </p:sp>
      <p:sp>
        <p:nvSpPr>
          <p:cNvPr id="4" name="Shape 2"/>
          <p:cNvSpPr/>
          <p:nvPr/>
        </p:nvSpPr>
        <p:spPr>
          <a:xfrm>
            <a:off x="815975" y="1913074"/>
            <a:ext cx="5200650" cy="1138105"/>
          </a:xfrm>
          <a:prstGeom prst="roundRect">
            <a:avLst>
              <a:gd name="adj" fmla="val 8648"/>
            </a:avLst>
          </a:prstGeom>
          <a:solidFill>
            <a:srgbClr val="1A1E23"/>
          </a:solidFill>
          <a:ln w="6350">
            <a:solidFill>
              <a:srgbClr val="2A3038"/>
            </a:solidFill>
            <a:prstDash val="solid"/>
          </a:ln>
        </p:spPr>
      </p:sp>
      <p:pic>
        <p:nvPicPr>
          <p:cNvPr id="5" name="Image 0" descr="Clock">    </p:cNvPr>
          <p:cNvPicPr>
            <a:picLocks noChangeAspect="1"/>
          </p:cNvPicPr>
          <p:nvPr/>
        </p:nvPicPr>
        <p:blipFill>
          <a:blip r:embed="rId1"/>
          <a:srcRect l="0" r="0" t="0" b="0"/>
          <a:stretch/>
        </p:blipFill>
        <p:spPr>
          <a:xfrm>
            <a:off x="1024467" y="2121564"/>
            <a:ext cx="304800" cy="304800"/>
          </a:xfrm>
          <a:prstGeom prst="rect">
            <a:avLst/>
          </a:prstGeom>
        </p:spPr>
      </p:pic>
      <p:sp>
        <p:nvSpPr>
          <p:cNvPr id="6" name="Text 3"/>
          <p:cNvSpPr/>
          <p:nvPr/>
        </p:nvSpPr>
        <p:spPr>
          <a:xfrm>
            <a:off x="1481667" y="2121564"/>
            <a:ext cx="44562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1F4"/>
                </a:solidFill>
                <a:latin typeface="Space Grotesk" pitchFamily="34" charset="0"/>
                <a:ea typeface="Space Grotesk" pitchFamily="34" charset="-122"/>
                <a:cs typeface="Space Grotesk" pitchFamily="34" charset="-120"/>
              </a:rPr>
              <a:t>Scheduled scans</a:t>
            </a:r>
            <a:endParaRPr lang="en-US" sz="1600" dirty="0"/>
          </a:p>
        </p:txBody>
      </p:sp>
      <p:sp>
        <p:nvSpPr>
          <p:cNvPr id="7" name="Text 4"/>
          <p:cNvSpPr/>
          <p:nvPr/>
        </p:nvSpPr>
        <p:spPr>
          <a:xfrm>
            <a:off x="1481667" y="2416175"/>
            <a:ext cx="4456261"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Daily, weekly or every few hours. A missed scan runs when NetGuard next starts.</a:t>
            </a:r>
            <a:endParaRPr lang="en-US" sz="1200" dirty="0"/>
          </a:p>
        </p:txBody>
      </p:sp>
      <p:sp>
        <p:nvSpPr>
          <p:cNvPr id="8" name="Shape 5"/>
          <p:cNvSpPr/>
          <p:nvPr/>
        </p:nvSpPr>
        <p:spPr>
          <a:xfrm>
            <a:off x="6175375" y="1913074"/>
            <a:ext cx="5200650" cy="1138105"/>
          </a:xfrm>
          <a:prstGeom prst="roundRect">
            <a:avLst>
              <a:gd name="adj" fmla="val 8648"/>
            </a:avLst>
          </a:prstGeom>
          <a:solidFill>
            <a:srgbClr val="1A1E23"/>
          </a:solidFill>
          <a:ln w="6350">
            <a:solidFill>
              <a:srgbClr val="2A3038"/>
            </a:solidFill>
            <a:prstDash val="solid"/>
          </a:ln>
        </p:spPr>
      </p:sp>
      <p:pic>
        <p:nvPicPr>
          <p:cNvPr id="9" name="Image 1" descr="Globe">    </p:cNvPr>
          <p:cNvPicPr>
            <a:picLocks noChangeAspect="1"/>
          </p:cNvPicPr>
          <p:nvPr/>
        </p:nvPicPr>
        <p:blipFill>
          <a:blip r:embed="rId2"/>
          <a:srcRect l="0" r="0" t="0" b="0"/>
          <a:stretch/>
        </p:blipFill>
        <p:spPr>
          <a:xfrm>
            <a:off x="6383867" y="2121564"/>
            <a:ext cx="304800" cy="304800"/>
          </a:xfrm>
          <a:prstGeom prst="rect">
            <a:avLst/>
          </a:prstGeom>
        </p:spPr>
      </p:pic>
      <p:sp>
        <p:nvSpPr>
          <p:cNvPr id="10" name="Text 6"/>
          <p:cNvSpPr/>
          <p:nvPr/>
        </p:nvSpPr>
        <p:spPr>
          <a:xfrm>
            <a:off x="6841067" y="2121564"/>
            <a:ext cx="44562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1F4"/>
                </a:solidFill>
                <a:latin typeface="Space Grotesk" pitchFamily="34" charset="0"/>
                <a:ea typeface="Space Grotesk" pitchFamily="34" charset="-122"/>
                <a:cs typeface="Space Grotesk" pitchFamily="34" charset="-120"/>
              </a:rPr>
              <a:t>Multiple sites</a:t>
            </a:r>
            <a:endParaRPr lang="en-US" sz="1600" dirty="0"/>
          </a:p>
        </p:txBody>
      </p:sp>
      <p:sp>
        <p:nvSpPr>
          <p:cNvPr id="11" name="Text 7"/>
          <p:cNvSpPr/>
          <p:nvPr/>
        </p:nvSpPr>
        <p:spPr>
          <a:xfrm>
            <a:off x="6841067" y="2416175"/>
            <a:ext cx="4531783"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Name every network you look after and pick one for each scan.</a:t>
            </a:r>
            <a:endParaRPr lang="en-US" sz="1200" dirty="0"/>
          </a:p>
        </p:txBody>
      </p:sp>
      <p:sp>
        <p:nvSpPr>
          <p:cNvPr id="12" name="Shape 8"/>
          <p:cNvSpPr/>
          <p:nvPr/>
        </p:nvSpPr>
        <p:spPr>
          <a:xfrm>
            <a:off x="815975" y="3209925"/>
            <a:ext cx="5200650" cy="1138105"/>
          </a:xfrm>
          <a:prstGeom prst="roundRect">
            <a:avLst>
              <a:gd name="adj" fmla="val 8648"/>
            </a:avLst>
          </a:prstGeom>
          <a:solidFill>
            <a:srgbClr val="1A1E23"/>
          </a:solidFill>
          <a:ln w="6350">
            <a:solidFill>
              <a:srgbClr val="2A3038"/>
            </a:solidFill>
            <a:prstDash val="solid"/>
          </a:ln>
        </p:spPr>
      </p:sp>
      <p:pic>
        <p:nvPicPr>
          <p:cNvPr id="13" name="Image 2" descr="PaperPlane">    </p:cNvPr>
          <p:cNvPicPr>
            <a:picLocks noChangeAspect="1"/>
          </p:cNvPicPr>
          <p:nvPr/>
        </p:nvPicPr>
        <p:blipFill>
          <a:blip r:embed="rId3"/>
          <a:srcRect l="0" r="0" t="0" b="0"/>
          <a:stretch/>
        </p:blipFill>
        <p:spPr>
          <a:xfrm>
            <a:off x="1024467" y="3418421"/>
            <a:ext cx="304800" cy="304800"/>
          </a:xfrm>
          <a:prstGeom prst="rect">
            <a:avLst/>
          </a:prstGeom>
        </p:spPr>
      </p:pic>
      <p:sp>
        <p:nvSpPr>
          <p:cNvPr id="14" name="Text 9"/>
          <p:cNvSpPr/>
          <p:nvPr/>
        </p:nvSpPr>
        <p:spPr>
          <a:xfrm>
            <a:off x="1481667" y="3418421"/>
            <a:ext cx="44562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1F4"/>
                </a:solidFill>
                <a:latin typeface="Space Grotesk" pitchFamily="34" charset="0"/>
                <a:ea typeface="Space Grotesk" pitchFamily="34" charset="-122"/>
                <a:cs typeface="Space Grotesk" pitchFamily="34" charset="-120"/>
              </a:rPr>
              <a:t>Email and Telegram alerts</a:t>
            </a:r>
            <a:endParaRPr lang="en-US" sz="1600" dirty="0"/>
          </a:p>
        </p:txBody>
      </p:sp>
      <p:sp>
        <p:nvSpPr>
          <p:cNvPr id="15" name="Text 10"/>
          <p:cNvSpPr/>
          <p:nvPr/>
        </p:nvSpPr>
        <p:spPr>
          <a:xfrm>
            <a:off x="1481667" y="3713032"/>
            <a:ext cx="4456261"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One message per scan with new issues. Passwords stay encrypted on the PC.</a:t>
            </a:r>
            <a:endParaRPr lang="en-US" sz="1200" dirty="0"/>
          </a:p>
        </p:txBody>
      </p:sp>
      <p:sp>
        <p:nvSpPr>
          <p:cNvPr id="16" name="Shape 11"/>
          <p:cNvSpPr/>
          <p:nvPr/>
        </p:nvSpPr>
        <p:spPr>
          <a:xfrm>
            <a:off x="6175375" y="3209925"/>
            <a:ext cx="5200650" cy="1138105"/>
          </a:xfrm>
          <a:prstGeom prst="roundRect">
            <a:avLst>
              <a:gd name="adj" fmla="val 8648"/>
            </a:avLst>
          </a:prstGeom>
          <a:solidFill>
            <a:srgbClr val="1A1E23"/>
          </a:solidFill>
          <a:ln w="6350">
            <a:solidFill>
              <a:srgbClr val="2A3038"/>
            </a:solidFill>
            <a:prstDash val="solid"/>
          </a:ln>
        </p:spPr>
      </p:sp>
      <p:pic>
        <p:nvPicPr>
          <p:cNvPr id="17" name="Image 3" descr="Book">    </p:cNvPr>
          <p:cNvPicPr>
            <a:picLocks noChangeAspect="1"/>
          </p:cNvPicPr>
          <p:nvPr/>
        </p:nvPicPr>
        <p:blipFill>
          <a:blip r:embed="rId4"/>
          <a:srcRect l="0" r="0" t="0" b="0"/>
          <a:stretch/>
        </p:blipFill>
        <p:spPr>
          <a:xfrm>
            <a:off x="6383867" y="3418421"/>
            <a:ext cx="304800" cy="304800"/>
          </a:xfrm>
          <a:prstGeom prst="rect">
            <a:avLst/>
          </a:prstGeom>
        </p:spPr>
      </p:pic>
      <p:sp>
        <p:nvSpPr>
          <p:cNvPr id="18" name="Text 12"/>
          <p:cNvSpPr/>
          <p:nvPr/>
        </p:nvSpPr>
        <p:spPr>
          <a:xfrm>
            <a:off x="6841067" y="3418421"/>
            <a:ext cx="44562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1F4"/>
                </a:solidFill>
                <a:latin typeface="Space Grotesk" pitchFamily="34" charset="0"/>
                <a:ea typeface="Space Grotesk" pitchFamily="34" charset="-122"/>
                <a:cs typeface="Space Grotesk" pitchFamily="34" charset="-120"/>
              </a:rPr>
              <a:t>Branded reports</a:t>
            </a:r>
            <a:endParaRPr lang="en-US" sz="1600" dirty="0"/>
          </a:p>
        </p:txBody>
      </p:sp>
      <p:sp>
        <p:nvSpPr>
          <p:cNvPr id="19" name="Text 13"/>
          <p:cNvSpPr/>
          <p:nvPr/>
        </p:nvSpPr>
        <p:spPr>
          <a:xfrm>
            <a:off x="6841067" y="3713032"/>
            <a:ext cx="4456261"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IBM Plex Sans" pitchFamily="34" charset="0"/>
                <a:ea typeface="IBM Plex Sans" pitchFamily="34" charset="-122"/>
                <a:cs typeface="IBM Plex Sans" pitchFamily="34" charset="-120"/>
              </a:rPr>
              <a:t>Your company name, contact and colour on every PDF and HTML report.</a:t>
            </a:r>
            <a:endParaRPr lang="en-US" sz="1200" dirty="0"/>
          </a:p>
        </p:txBody>
      </p:sp>
      <p:sp>
        <p:nvSpPr>
          <p:cNvPr id="20" name="Text 14"/>
          <p:cNvSpPr/>
          <p:nvPr/>
        </p:nvSpPr>
        <p:spPr>
          <a:xfrm>
            <a:off x="812800" y="4630607"/>
            <a:ext cx="1383903" cy="331788"/>
          </a:xfrm>
          <a:prstGeom prst="roundRect">
            <a:avLst>
              <a:gd name="adj" fmla="val 50000"/>
            </a:avLst>
          </a:prstGeom>
          <a:solidFill>
            <a:srgbClr val="2FD3A2"/>
          </a:solidFill>
          <a:ln/>
        </p:spPr>
        <p:txBody>
          <a:bodyPr wrap="none" lIns="0" tIns="2211" rIns="0" bIns="0" rtlCol="0" anchor="t">
            <a:normAutofit/>
          </a:bodyPr>
          <a:lstStyle/>
          <a:p>
            <a:pPr algn="ctr" indent="0" marL="0">
              <a:lnSpc>
                <a:spcPts val="1680"/>
              </a:lnSpc>
              <a:buNone/>
            </a:pPr>
            <a:r>
              <a:rPr lang="en-US" sz="1200" dirty="0">
                <a:solidFill>
                  <a:srgbClr val="111418"/>
                </a:solidFill>
                <a:latin typeface="IBM Plex Sans" pitchFamily="34" charset="0"/>
                <a:ea typeface="IBM Plex Sans" pitchFamily="34" charset="-122"/>
                <a:cs typeface="IBM Plex Sans" pitchFamily="34" charset="-120"/>
              </a:rPr>
              <a:t>14-day free trial</a:t>
            </a:r>
            <a:endParaRPr lang="en-US" sz="1200" dirty="0"/>
          </a:p>
        </p:txBody>
      </p:sp>
      <p:sp>
        <p:nvSpPr>
          <p:cNvPr id="21" name="Text 15"/>
          <p:cNvSpPr/>
          <p:nvPr/>
        </p:nvSpPr>
        <p:spPr>
          <a:xfrm>
            <a:off x="2301478" y="4633782"/>
            <a:ext cx="2678509" cy="325438"/>
          </a:xfrm>
          <a:prstGeom prst="roundRect">
            <a:avLst>
              <a:gd name="adj" fmla="val 50000"/>
            </a:avLst>
          </a:prstGeom>
          <a:solidFill>
            <a:srgbClr val="1A1E23"/>
          </a:solidFill>
          <a:ln w="6350">
            <a:solidFill>
              <a:srgbClr val="2A3038"/>
            </a:solidFill>
            <a:prstDash val="solid"/>
          </a:ln>
        </p:spPr>
        <p:txBody>
          <a:bodyPr wrap="none" lIns="0" tIns="0" rIns="0" bIns="0" rtlCol="0" anchor="ctr">
            <a:normAutofit/>
          </a:bodyPr>
          <a:lstStyle/>
          <a:p>
            <a:pPr algn="ctr" indent="0" marL="0">
              <a:lnSpc>
                <a:spcPts val="1680"/>
              </a:lnSpc>
              <a:buNone/>
            </a:pPr>
            <a:r>
              <a:rPr lang="en-US" sz="1200" dirty="0">
                <a:solidFill>
                  <a:srgbClr val="EEF1F4"/>
                </a:solidFill>
                <a:latin typeface="IBM Plex Sans" pitchFamily="34" charset="0"/>
                <a:ea typeface="IBM Plex Sans" pitchFamily="34" charset="-122"/>
                <a:cs typeface="IBM Plex Sans" pitchFamily="34" charset="-120"/>
              </a:rPr>
              <a:t>Signed licence keys, verified offline</a:t>
            </a:r>
            <a:endParaRPr lang="en-US" sz="1200" dirty="0"/>
          </a:p>
        </p:txBody>
      </p:sp>
      <p:sp>
        <p:nvSpPr>
          <p:cNvPr id="22" name="Text 16"/>
          <p:cNvSpPr/>
          <p:nvPr/>
        </p:nvSpPr>
        <p:spPr>
          <a:xfrm>
            <a:off x="5087938" y="4633782"/>
            <a:ext cx="2777067" cy="325438"/>
          </a:xfrm>
          <a:prstGeom prst="roundRect">
            <a:avLst>
              <a:gd name="adj" fmla="val 50000"/>
            </a:avLst>
          </a:prstGeom>
          <a:solidFill>
            <a:srgbClr val="1A1E23"/>
          </a:solidFill>
          <a:ln w="6350">
            <a:solidFill>
              <a:srgbClr val="2A3038"/>
            </a:solidFill>
            <a:prstDash val="solid"/>
          </a:ln>
        </p:spPr>
        <p:txBody>
          <a:bodyPr wrap="none" lIns="0" tIns="0" rIns="0" bIns="0" rtlCol="0" anchor="ctr">
            <a:normAutofit/>
          </a:bodyPr>
          <a:lstStyle/>
          <a:p>
            <a:pPr algn="ctr" indent="0" marL="0">
              <a:lnSpc>
                <a:spcPts val="1680"/>
              </a:lnSpc>
              <a:buNone/>
            </a:pPr>
            <a:r>
              <a:rPr lang="en-US" sz="1200" dirty="0">
                <a:solidFill>
                  <a:srgbClr val="EEF1F4"/>
                </a:solidFill>
                <a:latin typeface="IBM Plex Sans" pitchFamily="34" charset="0"/>
                <a:ea typeface="IBM Plex Sans" pitchFamily="34" charset="-122"/>
                <a:cs typeface="IBM Plex Sans" pitchFamily="34" charset="-120"/>
              </a:rPr>
              <a:t>No account or licence server needed</a:t>
            </a:r>
            <a:endParaRPr lang="en-US" sz="1200" dirty="0"/>
          </a:p>
        </p:txBody>
      </p:sp>
      <p:sp>
        <p:nvSpPr>
          <p:cNvPr id="23" name="Text 17"/>
          <p:cNvSpPr/>
          <p:nvPr/>
        </p:nvSpPr>
        <p:spPr>
          <a:xfrm>
            <a:off x="812800" y="6238348"/>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NetGuard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B7A5E"/>
                </a:solidFill>
                <a:latin typeface="JetBrains Mono" pitchFamily="49" charset="0"/>
                <a:ea typeface="JetBrains Mono" pitchFamily="49" charset="-122"/>
                <a:cs typeface="JetBrains Mono" pitchFamily="49" charset="-120"/>
              </a:rPr>
              <a:t>ROADMAP</a:t>
            </a:r>
            <a:endParaRPr lang="en-US" sz="1200" dirty="0"/>
          </a:p>
        </p:txBody>
      </p:sp>
      <p:sp>
        <p:nvSpPr>
          <p:cNvPr id="3" name="Text 1"/>
          <p:cNvSpPr/>
          <p:nvPr>
            <p:ph type="title"/>
          </p:nvPr>
        </p:nvSpPr>
        <p:spPr>
          <a:xfrm>
            <a:off x="812800" y="1127658"/>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D"/>
                </a:solidFill>
                <a:latin typeface="Space Grotesk" pitchFamily="34" charset="0"/>
                <a:ea typeface="Space Grotesk" pitchFamily="34" charset="-122"/>
                <a:cs typeface="Space Grotesk" pitchFamily="34" charset="-120"/>
              </a:rPr>
              <a:t>Five phases to a commercial release</a:t>
            </a:r>
            <a:endParaRPr lang="en-US" sz="3600" dirty="0"/>
          </a:p>
        </p:txBody>
      </p:sp>
      <p:sp>
        <p:nvSpPr>
          <p:cNvPr id="4" name="Shape 2"/>
          <p:cNvSpPr/>
          <p:nvPr/>
        </p:nvSpPr>
        <p:spPr>
          <a:xfrm>
            <a:off x="812800" y="2011499"/>
            <a:ext cx="1991254" cy="0"/>
          </a:xfrm>
          <a:prstGeom prst="line">
            <a:avLst/>
          </a:prstGeom>
          <a:noFill/>
          <a:ln w="50800">
            <a:solidFill>
              <a:srgbClr val="0B7A5E"/>
            </a:solidFill>
            <a:prstDash val="solid"/>
          </a:ln>
        </p:spPr>
      </p:sp>
      <p:sp>
        <p:nvSpPr>
          <p:cNvPr id="5" name="Text 3"/>
          <p:cNvSpPr/>
          <p:nvPr/>
        </p:nvSpPr>
        <p:spPr>
          <a:xfrm>
            <a:off x="812800" y="2214699"/>
            <a:ext cx="20509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PHASE 1</a:t>
            </a:r>
            <a:endParaRPr lang="en-US" sz="1200" dirty="0"/>
          </a:p>
        </p:txBody>
      </p:sp>
      <p:sp>
        <p:nvSpPr>
          <p:cNvPr id="6" name="Text 4"/>
          <p:cNvSpPr/>
          <p:nvPr/>
        </p:nvSpPr>
        <p:spPr>
          <a:xfrm>
            <a:off x="812800" y="2516851"/>
            <a:ext cx="205099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Foundation</a:t>
            </a:r>
            <a:endParaRPr lang="en-US" sz="1600" dirty="0"/>
          </a:p>
        </p:txBody>
      </p:sp>
      <p:sp>
        <p:nvSpPr>
          <p:cNvPr id="7" name="Text 5"/>
          <p:cNvSpPr/>
          <p:nvPr/>
        </p:nvSpPr>
        <p:spPr>
          <a:xfrm>
            <a:off x="812800" y="2849563"/>
            <a:ext cx="2050992" cy="23865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E"/>
                </a:solidFill>
                <a:latin typeface="IBM Plex Sans" pitchFamily="34" charset="0"/>
                <a:ea typeface="IBM Plex Sans" pitchFamily="34" charset="-122"/>
                <a:cs typeface="IBM Plex Sans" pitchFamily="34" charset="-120"/>
              </a:rPr>
              <a:t>Done</a:t>
            </a:r>
            <a:endParaRPr lang="en-US" sz="1200" dirty="0"/>
          </a:p>
        </p:txBody>
      </p:sp>
      <p:sp>
        <p:nvSpPr>
          <p:cNvPr id="8" name="Text 6"/>
          <p:cNvSpPr/>
          <p:nvPr/>
        </p:nvSpPr>
        <p:spPr>
          <a:xfrm>
            <a:off x="812800" y="3151721"/>
            <a:ext cx="2050992"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App security, data storage, logging and automated tests</a:t>
            </a:r>
            <a:endParaRPr lang="en-US" sz="1200" dirty="0"/>
          </a:p>
        </p:txBody>
      </p:sp>
      <p:sp>
        <p:nvSpPr>
          <p:cNvPr id="9" name="Shape 7"/>
          <p:cNvSpPr/>
          <p:nvPr/>
        </p:nvSpPr>
        <p:spPr>
          <a:xfrm>
            <a:off x="2956454" y="2011499"/>
            <a:ext cx="1991387" cy="0"/>
          </a:xfrm>
          <a:prstGeom prst="line">
            <a:avLst/>
          </a:prstGeom>
          <a:noFill/>
          <a:ln w="50800">
            <a:solidFill>
              <a:srgbClr val="0B7A5E"/>
            </a:solidFill>
            <a:prstDash val="solid"/>
          </a:ln>
        </p:spPr>
      </p:sp>
      <p:sp>
        <p:nvSpPr>
          <p:cNvPr id="10" name="Text 8"/>
          <p:cNvSpPr/>
          <p:nvPr/>
        </p:nvSpPr>
        <p:spPr>
          <a:xfrm>
            <a:off x="2956454" y="2214699"/>
            <a:ext cx="2051128"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PHASE 2</a:t>
            </a:r>
            <a:endParaRPr lang="en-US" sz="1200" dirty="0"/>
          </a:p>
        </p:txBody>
      </p:sp>
      <p:sp>
        <p:nvSpPr>
          <p:cNvPr id="11" name="Text 9"/>
          <p:cNvSpPr/>
          <p:nvPr/>
        </p:nvSpPr>
        <p:spPr>
          <a:xfrm>
            <a:off x="2956454" y="2516851"/>
            <a:ext cx="205112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Desktop app</a:t>
            </a:r>
            <a:endParaRPr lang="en-US" sz="1600" dirty="0"/>
          </a:p>
        </p:txBody>
      </p:sp>
      <p:sp>
        <p:nvSpPr>
          <p:cNvPr id="12" name="Text 10"/>
          <p:cNvSpPr/>
          <p:nvPr/>
        </p:nvSpPr>
        <p:spPr>
          <a:xfrm>
            <a:off x="2956454" y="2849563"/>
            <a:ext cx="2051128" cy="23865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E"/>
                </a:solidFill>
                <a:latin typeface="IBM Plex Sans" pitchFamily="34" charset="0"/>
                <a:ea typeface="IBM Plex Sans" pitchFamily="34" charset="-122"/>
                <a:cs typeface="IBM Plex Sans" pitchFamily="34" charset="-120"/>
              </a:rPr>
              <a:t>Done</a:t>
            </a:r>
            <a:endParaRPr lang="en-US" sz="1200" dirty="0"/>
          </a:p>
        </p:txBody>
      </p:sp>
      <p:sp>
        <p:nvSpPr>
          <p:cNvPr id="13" name="Text 11"/>
          <p:cNvSpPr/>
          <p:nvPr/>
        </p:nvSpPr>
        <p:spPr>
          <a:xfrm>
            <a:off x="2956454" y="3151721"/>
            <a:ext cx="2051128"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Native window, standalone .exe and installer script</a:t>
            </a:r>
            <a:endParaRPr lang="en-US" sz="1200" dirty="0"/>
          </a:p>
        </p:txBody>
      </p:sp>
      <p:sp>
        <p:nvSpPr>
          <p:cNvPr id="14" name="Shape 12"/>
          <p:cNvSpPr/>
          <p:nvPr/>
        </p:nvSpPr>
        <p:spPr>
          <a:xfrm>
            <a:off x="5100241" y="2011499"/>
            <a:ext cx="1991387" cy="0"/>
          </a:xfrm>
          <a:prstGeom prst="line">
            <a:avLst/>
          </a:prstGeom>
          <a:noFill/>
          <a:ln w="50800">
            <a:solidFill>
              <a:srgbClr val="0B7A5E"/>
            </a:solidFill>
            <a:prstDash val="solid"/>
          </a:ln>
        </p:spPr>
      </p:sp>
      <p:sp>
        <p:nvSpPr>
          <p:cNvPr id="15" name="Text 13"/>
          <p:cNvSpPr/>
          <p:nvPr/>
        </p:nvSpPr>
        <p:spPr>
          <a:xfrm>
            <a:off x="5100241" y="2214699"/>
            <a:ext cx="2051128"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PHASE 3</a:t>
            </a:r>
            <a:endParaRPr lang="en-US" sz="1200" dirty="0"/>
          </a:p>
        </p:txBody>
      </p:sp>
      <p:sp>
        <p:nvSpPr>
          <p:cNvPr id="16" name="Text 14"/>
          <p:cNvSpPr/>
          <p:nvPr/>
        </p:nvSpPr>
        <p:spPr>
          <a:xfrm>
            <a:off x="5100241" y="2516851"/>
            <a:ext cx="2051128"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Editions and licensing</a:t>
            </a:r>
            <a:endParaRPr lang="en-US" sz="1600" dirty="0"/>
          </a:p>
        </p:txBody>
      </p:sp>
      <p:sp>
        <p:nvSpPr>
          <p:cNvPr id="17" name="Text 15"/>
          <p:cNvSpPr/>
          <p:nvPr/>
        </p:nvSpPr>
        <p:spPr>
          <a:xfrm>
            <a:off x="5100241" y="3093380"/>
            <a:ext cx="2051128" cy="23865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E"/>
                </a:solidFill>
                <a:latin typeface="IBM Plex Sans" pitchFamily="34" charset="0"/>
                <a:ea typeface="IBM Plex Sans" pitchFamily="34" charset="-122"/>
                <a:cs typeface="IBM Plex Sans" pitchFamily="34" charset="-120"/>
              </a:rPr>
              <a:t>Done</a:t>
            </a:r>
            <a:endParaRPr lang="en-US" sz="1200" dirty="0"/>
          </a:p>
        </p:txBody>
      </p:sp>
      <p:sp>
        <p:nvSpPr>
          <p:cNvPr id="18" name="Text 16"/>
          <p:cNvSpPr/>
          <p:nvPr/>
        </p:nvSpPr>
        <p:spPr>
          <a:xfrm>
            <a:off x="5100241" y="3395532"/>
            <a:ext cx="2051128"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Free and Pro, signed licence keys, a 14-day trial</a:t>
            </a:r>
            <a:endParaRPr lang="en-US" sz="1200" dirty="0"/>
          </a:p>
        </p:txBody>
      </p:sp>
      <p:sp>
        <p:nvSpPr>
          <p:cNvPr id="19" name="Shape 17"/>
          <p:cNvSpPr/>
          <p:nvPr/>
        </p:nvSpPr>
        <p:spPr>
          <a:xfrm>
            <a:off x="7244028" y="2011499"/>
            <a:ext cx="1991387" cy="0"/>
          </a:xfrm>
          <a:prstGeom prst="line">
            <a:avLst/>
          </a:prstGeom>
          <a:noFill/>
          <a:ln w="50800">
            <a:solidFill>
              <a:srgbClr val="0B7A5E"/>
            </a:solidFill>
            <a:prstDash val="solid"/>
          </a:ln>
        </p:spPr>
      </p:sp>
      <p:sp>
        <p:nvSpPr>
          <p:cNvPr id="20" name="Text 18"/>
          <p:cNvSpPr/>
          <p:nvPr/>
        </p:nvSpPr>
        <p:spPr>
          <a:xfrm>
            <a:off x="7244028" y="2214699"/>
            <a:ext cx="2051128"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PHASE 4</a:t>
            </a:r>
            <a:endParaRPr lang="en-US" sz="1200" dirty="0"/>
          </a:p>
        </p:txBody>
      </p:sp>
      <p:sp>
        <p:nvSpPr>
          <p:cNvPr id="21" name="Text 19"/>
          <p:cNvSpPr/>
          <p:nvPr/>
        </p:nvSpPr>
        <p:spPr>
          <a:xfrm>
            <a:off x="7244028" y="2516851"/>
            <a:ext cx="205112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Pro features</a:t>
            </a:r>
            <a:endParaRPr lang="en-US" sz="1600" dirty="0"/>
          </a:p>
        </p:txBody>
      </p:sp>
      <p:sp>
        <p:nvSpPr>
          <p:cNvPr id="22" name="Text 20"/>
          <p:cNvSpPr/>
          <p:nvPr/>
        </p:nvSpPr>
        <p:spPr>
          <a:xfrm>
            <a:off x="7244028" y="2849563"/>
            <a:ext cx="2051128" cy="23865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5E"/>
                </a:solidFill>
                <a:latin typeface="IBM Plex Sans" pitchFamily="34" charset="0"/>
                <a:ea typeface="IBM Plex Sans" pitchFamily="34" charset="-122"/>
                <a:cs typeface="IBM Plex Sans" pitchFamily="34" charset="-120"/>
              </a:rPr>
              <a:t>Done</a:t>
            </a:r>
            <a:endParaRPr lang="en-US" sz="1200" dirty="0"/>
          </a:p>
        </p:txBody>
      </p:sp>
      <p:sp>
        <p:nvSpPr>
          <p:cNvPr id="23" name="Text 21"/>
          <p:cNvSpPr/>
          <p:nvPr/>
        </p:nvSpPr>
        <p:spPr>
          <a:xfrm>
            <a:off x="7244028" y="3151721"/>
            <a:ext cx="2051128" cy="4519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Scheduled scans, multiple sites, branded reports, alerts</a:t>
            </a:r>
            <a:endParaRPr lang="en-US" sz="1200" dirty="0"/>
          </a:p>
        </p:txBody>
      </p:sp>
      <p:sp>
        <p:nvSpPr>
          <p:cNvPr id="24" name="Shape 22"/>
          <p:cNvSpPr/>
          <p:nvPr/>
        </p:nvSpPr>
        <p:spPr>
          <a:xfrm>
            <a:off x="9387814" y="2011499"/>
            <a:ext cx="1991387" cy="0"/>
          </a:xfrm>
          <a:prstGeom prst="line">
            <a:avLst/>
          </a:prstGeom>
          <a:noFill/>
          <a:ln w="50800">
            <a:solidFill>
              <a:srgbClr val="B85A12"/>
            </a:solidFill>
            <a:prstDash val="solid"/>
          </a:ln>
        </p:spPr>
      </p:sp>
      <p:sp>
        <p:nvSpPr>
          <p:cNvPr id="25" name="Text 23"/>
          <p:cNvSpPr/>
          <p:nvPr/>
        </p:nvSpPr>
        <p:spPr>
          <a:xfrm>
            <a:off x="9387814" y="2214699"/>
            <a:ext cx="2051128"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PHASE 5</a:t>
            </a:r>
            <a:endParaRPr lang="en-US" sz="1200" dirty="0"/>
          </a:p>
        </p:txBody>
      </p:sp>
      <p:sp>
        <p:nvSpPr>
          <p:cNvPr id="26" name="Text 24"/>
          <p:cNvSpPr/>
          <p:nvPr/>
        </p:nvSpPr>
        <p:spPr>
          <a:xfrm>
            <a:off x="9387814" y="2516851"/>
            <a:ext cx="205112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D"/>
                </a:solidFill>
                <a:latin typeface="Space Grotesk" pitchFamily="34" charset="0"/>
                <a:ea typeface="Space Grotesk" pitchFamily="34" charset="-122"/>
                <a:cs typeface="Space Grotesk" pitchFamily="34" charset="-120"/>
              </a:rPr>
              <a:t>Release</a:t>
            </a:r>
            <a:endParaRPr lang="en-US" sz="1600" dirty="0"/>
          </a:p>
        </p:txBody>
      </p:sp>
      <p:sp>
        <p:nvSpPr>
          <p:cNvPr id="27" name="Text 25"/>
          <p:cNvSpPr/>
          <p:nvPr/>
        </p:nvSpPr>
        <p:spPr>
          <a:xfrm>
            <a:off x="9387814" y="2849563"/>
            <a:ext cx="2051128" cy="238654"/>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A12"/>
                </a:solidFill>
                <a:latin typeface="IBM Plex Sans" pitchFamily="34" charset="0"/>
                <a:ea typeface="IBM Plex Sans" pitchFamily="34" charset="-122"/>
                <a:cs typeface="IBM Plex Sans" pitchFamily="34" charset="-120"/>
              </a:rPr>
              <a:t>In progress</a:t>
            </a:r>
            <a:endParaRPr lang="en-US" sz="1200" dirty="0"/>
          </a:p>
        </p:txBody>
      </p:sp>
      <p:sp>
        <p:nvSpPr>
          <p:cNvPr id="28" name="Text 26"/>
          <p:cNvSpPr/>
          <p:nvPr/>
        </p:nvSpPr>
        <p:spPr>
          <a:xfrm>
            <a:off x="9387814" y="3151721"/>
            <a:ext cx="2051128" cy="6651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IBM Plex Sans" pitchFamily="34" charset="0"/>
                <a:ea typeface="IBM Plex Sans" pitchFamily="34" charset="-122"/>
                <a:cs typeface="IBM Plex Sans" pitchFamily="34" charset="-120"/>
              </a:rPr>
              <a:t>Signing step ready; certificate, legal review, website and payments next</a:t>
            </a:r>
            <a:endParaRPr lang="en-US" sz="1200" dirty="0"/>
          </a:p>
        </p:txBody>
      </p:sp>
      <p:sp>
        <p:nvSpPr>
          <p:cNvPr id="29" name="Text 27"/>
          <p:cNvSpPr/>
          <p:nvPr/>
        </p:nvSpPr>
        <p:spPr>
          <a:xfrm>
            <a:off x="812800" y="6238348"/>
            <a:ext cx="5232400"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JetBrains Mono" pitchFamily="49" charset="0"/>
                <a:ea typeface="JetBrains Mono" pitchFamily="49" charset="-122"/>
                <a:cs typeface="JetBrains Mono" pitchFamily="49" charset="-120"/>
              </a:rPr>
              <a:t>NetGuard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418"/>
        </a:solidFill>
      </p:bgPr>
    </p:bg>
    <p:spTree>
      <p:nvGrpSpPr>
        <p:cNvPr id="1" name=""/>
        <p:cNvGrpSpPr/>
        <p:nvPr/>
      </p:nvGrpSpPr>
      <p:grpSpPr>
        <a:xfrm>
          <a:off x="0" y="0"/>
          <a:ext cx="0" cy="0"/>
          <a:chOff x="0" y="0"/>
          <a:chExt cx="0" cy="0"/>
        </a:xfrm>
      </p:grpSpPr>
      <p:pic>
        <p:nvPicPr>
          <p:cNvPr id="2" name="Image 0" descr="Network map motif">    </p:cNvPr>
          <p:cNvPicPr>
            <a:picLocks noChangeAspect="1"/>
          </p:cNvPicPr>
          <p:nvPr/>
        </p:nvPicPr>
        <p:blipFill>
          <a:blip r:embed="rId1">
            <a:alphaModFix amt="70000"/>
          </a:blip>
          <a:srcRect l="0" r="0" t="0" b="0"/>
          <a:stretch/>
        </p:blipFill>
        <p:spPr>
          <a:xfrm>
            <a:off x="7493000" y="1524000"/>
            <a:ext cx="3810000" cy="3810000"/>
          </a:xfrm>
          <a:prstGeom prst="rect">
            <a:avLst/>
          </a:prstGeom>
        </p:spPr>
      </p:pic>
      <p:sp>
        <p:nvSpPr>
          <p:cNvPr id="3" name="Text 0"/>
          <p:cNvSpPr/>
          <p:nvPr/>
        </p:nvSpPr>
        <p:spPr>
          <a:xfrm>
            <a:off x="812800" y="2180568"/>
            <a:ext cx="10883392" cy="238654"/>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2FD3A2"/>
                </a:solidFill>
                <a:latin typeface="JetBrains Mono" pitchFamily="49" charset="0"/>
                <a:ea typeface="JetBrains Mono" pitchFamily="49" charset="-122"/>
                <a:cs typeface="JetBrains Mono" pitchFamily="49" charset="-120"/>
              </a:rPr>
              <a:t>NETGUARD</a:t>
            </a:r>
            <a:endParaRPr lang="en-US" sz="1200" dirty="0"/>
          </a:p>
        </p:txBody>
      </p:sp>
      <p:sp>
        <p:nvSpPr>
          <p:cNvPr id="4" name="Text 1"/>
          <p:cNvSpPr/>
          <p:nvPr>
            <p:ph type="title"/>
          </p:nvPr>
        </p:nvSpPr>
        <p:spPr>
          <a:xfrm>
            <a:off x="812800" y="2647820"/>
            <a:ext cx="6540500" cy="1049338"/>
          </a:xfrm>
          <a:prstGeom prst="rect">
            <a:avLst/>
          </a:prstGeom>
          <a:noFill/>
          <a:ln/>
        </p:spPr>
        <p:txBody>
          <a:bodyPr wrap="square" lIns="0" tIns="0" rIns="0" bIns="0" rtlCol="0" anchor="t">
            <a:normAutofit/>
          </a:bodyPr>
          <a:lstStyle/>
          <a:p>
            <a:pPr algn="l" indent="0" marL="0">
              <a:lnSpc>
                <a:spcPts val="4032"/>
              </a:lnSpc>
              <a:buNone/>
            </a:pPr>
            <a:r>
              <a:rPr lang="en-US" sz="3600" b="1" i="0" dirty="0">
                <a:solidFill>
                  <a:srgbClr val="EEF1F4"/>
                </a:solidFill>
                <a:latin typeface="Space Grotesk" pitchFamily="34" charset="0"/>
                <a:ea typeface="Space Grotesk" pitchFamily="34" charset="-122"/>
                <a:cs typeface="Space Grotesk" pitchFamily="34" charset="-120"/>
              </a:rPr>
              <a:t>Know what is on your network. Fix what matters.</a:t>
            </a:r>
            <a:endParaRPr lang="en-US" sz="3600" dirty="0"/>
          </a:p>
        </p:txBody>
      </p:sp>
      <p:sp>
        <p:nvSpPr>
          <p:cNvPr id="5" name="Text 2"/>
          <p:cNvSpPr/>
          <p:nvPr/>
        </p:nvSpPr>
        <p:spPr>
          <a:xfrm>
            <a:off x="812800" y="3925757"/>
            <a:ext cx="65405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AA4AF"/>
                </a:solidFill>
                <a:latin typeface="IBM Plex Sans" pitchFamily="34" charset="0"/>
                <a:ea typeface="IBM Plex Sans" pitchFamily="34" charset="-122"/>
                <a:cs typeface="IBM Plex Sans" pitchFamily="34" charset="-120"/>
              </a:rPr>
              <a:t>Thank you. Questions and feedback are welcome.</a:t>
            </a:r>
            <a:endParaRPr lang="en-US" sz="1600" dirty="0"/>
          </a:p>
        </p:txBody>
      </p:sp>
      <p:sp>
        <p:nvSpPr>
          <p:cNvPr id="6" name="Text 3"/>
          <p:cNvSpPr/>
          <p:nvPr/>
        </p:nvSpPr>
        <p:spPr>
          <a:xfrm>
            <a:off x="812800" y="4464186"/>
            <a:ext cx="10883392" cy="23865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AF"/>
                </a:solidFill>
                <a:latin typeface="JetBrains Mono" pitchFamily="49" charset="0"/>
                <a:ea typeface="JetBrains Mono" pitchFamily="49" charset="-122"/>
                <a:cs typeface="JetBrains Mono" pitchFamily="49" charset="-120"/>
              </a:rPr>
              <a:t>Yasir Hassan · [contact email] · [website]</a:t>
            </a:r>
            <a:endParaRPr lang="en-US" sz="1200" dirty="0"/>
          </a:p>
        </p:txBody>
      </p:sp>
    </p:spTree>
  </p:cSld>
  <p:clrMapOvr>
    <a:masterClrMapping/>
  </p:clrMapOvr>
</p:sld>
</file>

<file path=ppt/theme/theme1.xml><?xml version="1.0" encoding="utf-8"?>
<a:theme xmlns:a="http://schemas.openxmlformats.org/drawingml/2006/main" name="NetGuard">
  <a:themeElements>
    <a:clrScheme name="NetGuard">
      <a:dk1>
        <a:srgbClr val="14181D"/>
      </a:dk1>
      <a:lt1>
        <a:srgbClr val="F4F6F5"/>
      </a:lt1>
      <a:dk2>
        <a:srgbClr val="4C5053"/>
      </a:dk2>
      <a:lt2>
        <a:srgbClr val="DEE0DF"/>
      </a:lt2>
      <a:accent1>
        <a:srgbClr val="0B7A5E"/>
      </a:accent1>
      <a:accent2>
        <a:srgbClr val="2FD3A2"/>
      </a:accent2>
      <a:accent3>
        <a:srgbClr val="E9C440"/>
      </a:accent3>
      <a:accent4>
        <a:srgbClr val="F28C38"/>
      </a:accent4>
      <a:accent5>
        <a:srgbClr val="F0524F"/>
      </a:accent5>
      <a:accent6>
        <a:srgbClr val="B85A12"/>
      </a:accent6>
      <a:hlink>
        <a:srgbClr val="0563C1"/>
      </a:hlink>
      <a:folHlink>
        <a:srgbClr val="954F72"/>
      </a:folHlink>
    </a:clrScheme>
    <a:fontScheme name="NetGuard">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NetGuard</dc:title>
  <dc:subject/>
  <dc:creator/>
  <cp:lastModifiedBy/>
  <cp:revision>1</cp:revision>
  <dcterms:created xsi:type="dcterms:W3CDTF">2026-10-03T16:09:02Z</dcterms:created>
  <dcterms:modified xsi:type="dcterms:W3CDTF">2026-10-03T16:09:02Z</dcterms:modified>
</cp:coreProperties>
</file>